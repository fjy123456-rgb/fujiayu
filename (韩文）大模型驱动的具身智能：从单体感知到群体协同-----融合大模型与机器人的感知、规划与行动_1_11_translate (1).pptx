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1" r:id="rId4"/>
    <p:sldId id="263" r:id="rId5"/>
    <p:sldId id="266" r:id="rId6"/>
    <p:sldId id="265" r:id="rId7"/>
    <p:sldId id="269" r:id="rId8"/>
    <p:sldId id="270"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2" userDrawn="1">
          <p15:clr>
            <a:srgbClr val="A4A3A4"/>
          </p15:clr>
        </p15:guide>
        <p15:guide id="3" pos="7242" userDrawn="1">
          <p15:clr>
            <a:srgbClr val="A4A3A4"/>
          </p15:clr>
        </p15:guide>
        <p15:guide id="4" pos="4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F8083"/>
    <a:srgbClr val="C9A37D"/>
    <a:srgbClr val="4F6468"/>
    <a:srgbClr val="B17D49"/>
    <a:srgbClr val="DEC6AE"/>
    <a:srgbClr val="FFFFFF"/>
    <a:srgbClr val="213F4A"/>
    <a:srgbClr val="205382"/>
    <a:srgbClr val="F0F7FD"/>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66" d="100"/>
          <a:sy n="66" d="100"/>
        </p:scale>
        <p:origin x="1004" y="620"/>
      </p:cViewPr>
      <p:guideLst>
        <p:guide orient="horz" pos="2160"/>
        <p:guide pos="3802"/>
        <p:guide pos="7242"/>
        <p:guide pos="4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567192-2295-49FF-A984-87A48C04604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69265F-52D7-4200-AAA6-A4280648D77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567192-2295-49FF-A984-87A48C04604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69265F-52D7-4200-AAA6-A4280648D77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slideLayout" Target="../slideLayouts/slideLayout7.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298700" y="1485900"/>
            <a:ext cx="7594600" cy="3886200"/>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iconfont-1186-600060"/>
          <p:cNvSpPr/>
          <p:nvPr/>
        </p:nvSpPr>
        <p:spPr>
          <a:xfrm>
            <a:off x="4461831" y="1906040"/>
            <a:ext cx="3268338" cy="1989716"/>
          </a:xfrm>
          <a:custGeom>
            <a:avLst/>
            <a:gdLst>
              <a:gd name="T0" fmla="*/ 9934 w 12800"/>
              <a:gd name="T1" fmla="*/ 4202 h 7792"/>
              <a:gd name="T2" fmla="*/ 6623 w 12800"/>
              <a:gd name="T3" fmla="*/ 2783 h 7792"/>
              <a:gd name="T4" fmla="*/ 2894 w 12800"/>
              <a:gd name="T5" fmla="*/ 4202 h 7792"/>
              <a:gd name="T6" fmla="*/ 1837 w 12800"/>
              <a:gd name="T7" fmla="*/ 3757 h 7792"/>
              <a:gd name="T8" fmla="*/ 1837 w 12800"/>
              <a:gd name="T9" fmla="*/ 5037 h 7792"/>
              <a:gd name="T10" fmla="*/ 2115 w 12800"/>
              <a:gd name="T11" fmla="*/ 5426 h 7792"/>
              <a:gd name="T12" fmla="*/ 1837 w 12800"/>
              <a:gd name="T13" fmla="*/ 5816 h 7792"/>
              <a:gd name="T14" fmla="*/ 2143 w 12800"/>
              <a:gd name="T15" fmla="*/ 7179 h 7792"/>
              <a:gd name="T16" fmla="*/ 1197 w 12800"/>
              <a:gd name="T17" fmla="*/ 7179 h 7792"/>
              <a:gd name="T18" fmla="*/ 1503 w 12800"/>
              <a:gd name="T19" fmla="*/ 5788 h 7792"/>
              <a:gd name="T20" fmla="*/ 1252 w 12800"/>
              <a:gd name="T21" fmla="*/ 5399 h 7792"/>
              <a:gd name="T22" fmla="*/ 1503 w 12800"/>
              <a:gd name="T23" fmla="*/ 5009 h 7792"/>
              <a:gd name="T24" fmla="*/ 1503 w 12800"/>
              <a:gd name="T25" fmla="*/ 3618 h 7792"/>
              <a:gd name="T26" fmla="*/ 0 w 12800"/>
              <a:gd name="T27" fmla="*/ 3006 h 7792"/>
              <a:gd name="T28" fmla="*/ 6678 w 12800"/>
              <a:gd name="T29" fmla="*/ 0 h 7792"/>
              <a:gd name="T30" fmla="*/ 12800 w 12800"/>
              <a:gd name="T31" fmla="*/ 3033 h 7792"/>
              <a:gd name="T32" fmla="*/ 9934 w 12800"/>
              <a:gd name="T33" fmla="*/ 4202 h 7792"/>
              <a:gd name="T34" fmla="*/ 6511 w 12800"/>
              <a:gd name="T35" fmla="*/ 3479 h 7792"/>
              <a:gd name="T36" fmla="*/ 9517 w 12800"/>
              <a:gd name="T37" fmla="*/ 4508 h 7792"/>
              <a:gd name="T38" fmla="*/ 9517 w 12800"/>
              <a:gd name="T39" fmla="*/ 6985 h 7792"/>
              <a:gd name="T40" fmla="*/ 6344 w 12800"/>
              <a:gd name="T41" fmla="*/ 7792 h 7792"/>
              <a:gd name="T42" fmla="*/ 3534 w 12800"/>
              <a:gd name="T43" fmla="*/ 6985 h 7792"/>
              <a:gd name="T44" fmla="*/ 3534 w 12800"/>
              <a:gd name="T45" fmla="*/ 4508 h 7792"/>
              <a:gd name="T46" fmla="*/ 6511 w 12800"/>
              <a:gd name="T47" fmla="*/ 3479 h 7792"/>
              <a:gd name="T48" fmla="*/ 6483 w 12800"/>
              <a:gd name="T49" fmla="*/ 7346 h 7792"/>
              <a:gd name="T50" fmla="*/ 8904 w 12800"/>
              <a:gd name="T51" fmla="*/ 6734 h 7792"/>
              <a:gd name="T52" fmla="*/ 6483 w 12800"/>
              <a:gd name="T53" fmla="*/ 6122 h 7792"/>
              <a:gd name="T54" fmla="*/ 4063 w 12800"/>
              <a:gd name="T55" fmla="*/ 6734 h 7792"/>
              <a:gd name="T56" fmla="*/ 6483 w 12800"/>
              <a:gd name="T57" fmla="*/ 7346 h 7792"/>
              <a:gd name="T58" fmla="*/ 6483 w 12800"/>
              <a:gd name="T59" fmla="*/ 7346 h 7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00" h="7792">
                <a:moveTo>
                  <a:pt x="9934" y="4202"/>
                </a:moveTo>
                <a:cubicBezTo>
                  <a:pt x="9934" y="4202"/>
                  <a:pt x="8543" y="2783"/>
                  <a:pt x="6623" y="2783"/>
                </a:cubicBezTo>
                <a:cubicBezTo>
                  <a:pt x="4730" y="2783"/>
                  <a:pt x="2894" y="4202"/>
                  <a:pt x="2894" y="4202"/>
                </a:cubicBezTo>
                <a:lnTo>
                  <a:pt x="1837" y="3757"/>
                </a:lnTo>
                <a:lnTo>
                  <a:pt x="1837" y="5037"/>
                </a:lnTo>
                <a:cubicBezTo>
                  <a:pt x="2003" y="5093"/>
                  <a:pt x="2115" y="5232"/>
                  <a:pt x="2115" y="5426"/>
                </a:cubicBezTo>
                <a:cubicBezTo>
                  <a:pt x="2115" y="5621"/>
                  <a:pt x="2003" y="5760"/>
                  <a:pt x="1837" y="5816"/>
                </a:cubicBezTo>
                <a:lnTo>
                  <a:pt x="2143" y="7179"/>
                </a:lnTo>
                <a:lnTo>
                  <a:pt x="1197" y="7179"/>
                </a:lnTo>
                <a:lnTo>
                  <a:pt x="1503" y="5788"/>
                </a:lnTo>
                <a:cubicBezTo>
                  <a:pt x="1363" y="5733"/>
                  <a:pt x="1252" y="5566"/>
                  <a:pt x="1252" y="5399"/>
                </a:cubicBezTo>
                <a:cubicBezTo>
                  <a:pt x="1252" y="5232"/>
                  <a:pt x="1363" y="5093"/>
                  <a:pt x="1503" y="5009"/>
                </a:cubicBezTo>
                <a:lnTo>
                  <a:pt x="1503" y="3618"/>
                </a:lnTo>
                <a:lnTo>
                  <a:pt x="0" y="3006"/>
                </a:lnTo>
                <a:lnTo>
                  <a:pt x="6678" y="0"/>
                </a:lnTo>
                <a:lnTo>
                  <a:pt x="12800" y="3033"/>
                </a:lnTo>
                <a:lnTo>
                  <a:pt x="9934" y="4202"/>
                </a:lnTo>
                <a:close/>
                <a:moveTo>
                  <a:pt x="6511" y="3479"/>
                </a:moveTo>
                <a:cubicBezTo>
                  <a:pt x="8459" y="3479"/>
                  <a:pt x="9517" y="4508"/>
                  <a:pt x="9517" y="4508"/>
                </a:cubicBezTo>
                <a:lnTo>
                  <a:pt x="9517" y="6985"/>
                </a:lnTo>
                <a:cubicBezTo>
                  <a:pt x="9517" y="6985"/>
                  <a:pt x="8403" y="7792"/>
                  <a:pt x="6344" y="7792"/>
                </a:cubicBezTo>
                <a:cubicBezTo>
                  <a:pt x="4285" y="7792"/>
                  <a:pt x="3534" y="6985"/>
                  <a:pt x="3534" y="6985"/>
                </a:cubicBezTo>
                <a:lnTo>
                  <a:pt x="3534" y="4508"/>
                </a:lnTo>
                <a:cubicBezTo>
                  <a:pt x="3562" y="4508"/>
                  <a:pt x="4591" y="3479"/>
                  <a:pt x="6511" y="3479"/>
                </a:cubicBezTo>
                <a:close/>
                <a:moveTo>
                  <a:pt x="6483" y="7346"/>
                </a:moveTo>
                <a:cubicBezTo>
                  <a:pt x="7819" y="7346"/>
                  <a:pt x="8904" y="7068"/>
                  <a:pt x="8904" y="6734"/>
                </a:cubicBezTo>
                <a:cubicBezTo>
                  <a:pt x="8904" y="6400"/>
                  <a:pt x="7819" y="6122"/>
                  <a:pt x="6483" y="6122"/>
                </a:cubicBezTo>
                <a:cubicBezTo>
                  <a:pt x="5148" y="6122"/>
                  <a:pt x="4063" y="6400"/>
                  <a:pt x="4063" y="6734"/>
                </a:cubicBezTo>
                <a:cubicBezTo>
                  <a:pt x="4063" y="7068"/>
                  <a:pt x="5148" y="7346"/>
                  <a:pt x="6483" y="7346"/>
                </a:cubicBezTo>
                <a:close/>
                <a:moveTo>
                  <a:pt x="6483" y="7346"/>
                </a:moveTo>
                <a:close/>
              </a:path>
            </a:pathLst>
          </a:custGeom>
          <a:solidFill>
            <a:srgbClr val="313E51">
              <a:alpha val="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4B708B"/>
              </a:solidFill>
            </a:endParaRPr>
          </a:p>
        </p:txBody>
      </p:sp>
      <p:sp>
        <p:nvSpPr>
          <p:cNvPr id="9" name="文本框 8"/>
          <p:cNvSpPr txBox="1"/>
          <p:nvPr/>
        </p:nvSpPr>
        <p:spPr>
          <a:xfrm>
            <a:off x="2374566" y="2616839"/>
            <a:ext cx="7442868" cy="829945"/>
          </a:xfrm>
          <a:prstGeom prst="rect">
            <a:avLst/>
          </a:prstGeom>
          <a:noFill/>
        </p:spPr>
        <p:txBody>
          <a:bodyPr wrap="square" rtlCol="0">
            <a:spAutoFit/>
          </a:bodyPr>
          <a:lstStyle/>
          <a:p>
            <a:pPr algn="ctr"/>
            <a:r>
              <a:rPr lang="zh-CN" altLang="en-US" sz="2400" dirty="0">
                <a:solidFill>
                  <a:schemeClr val="tx1">
                    <a:lumMod val="65000"/>
                    <a:lumOff val="35000"/>
                  </a:schemeClr>
                </a:solidFill>
                <a:latin typeface="思源宋体 CN SemiBold" panose="02020600000000000000" pitchFamily="18" charset="-122"/>
                <a:ea typeface="思源宋体 CN SemiBold" panose="02020600000000000000" pitchFamily="18" charset="-122"/>
              </a:rPr>
              <a:t>대형 모델 기반의 몸화 지능: 단일 체계의 인식에서 집단 협업으로 – 대형 모델과 로봇의 인식, 계획 및 행동 기능의 융합</a:t>
            </a:r>
            <a:endParaRPr lang="zh-CN" altLang="en-US" sz="2400" dirty="0">
              <a:solidFill>
                <a:schemeClr val="tx1">
                  <a:lumMod val="65000"/>
                  <a:lumOff val="35000"/>
                </a:schemeClr>
              </a:solidFill>
              <a:latin typeface="思源宋体 CN SemiBold" panose="02020600000000000000" pitchFamily="18" charset="-122"/>
              <a:ea typeface="思源宋体 CN SemiBold" panose="02020600000000000000" pitchFamily="18" charset="-122"/>
            </a:endParaRPr>
          </a:p>
        </p:txBody>
      </p:sp>
      <p:sp>
        <p:nvSpPr>
          <p:cNvPr id="15" name="圆角矩形 14"/>
          <p:cNvSpPr/>
          <p:nvPr/>
        </p:nvSpPr>
        <p:spPr>
          <a:xfrm>
            <a:off x="5337544" y="4443587"/>
            <a:ext cx="1516912" cy="400110"/>
          </a:xfrm>
          <a:prstGeom prst="roundRect">
            <a:avLst>
              <a:gd name="adj" fmla="val 50000"/>
            </a:avLst>
          </a:prstGeom>
          <a:solidFill>
            <a:srgbClr val="6F80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293360" y="4480635"/>
            <a:ext cx="1605280" cy="337185"/>
          </a:xfrm>
          <a:prstGeom prst="rect">
            <a:avLst/>
          </a:prstGeom>
          <a:noFill/>
        </p:spPr>
        <p:txBody>
          <a:bodyPr wrap="none" rtlCol="0">
            <a:spAutoFit/>
          </a:bodyPr>
          <a:lstStyle>
            <a:defPPr>
              <a:defRPr lang="zh-CN"/>
            </a:defPPr>
            <a:lvl1pPr>
              <a:defRPr sz="3600">
                <a:solidFill>
                  <a:srgbClr val="23A4A9"/>
                </a:solidFill>
                <a:latin typeface="造字工房悦黑（非商用）常规体" pitchFamily="50" charset="-122"/>
                <a:ea typeface="造字工房悦黑（非商用）常规体" pitchFamily="50" charset="-122"/>
              </a:defRPr>
            </a:lvl1pPr>
          </a:lstStyle>
          <a:p>
            <a:pPr algn="ctr"/>
            <a:r>
              <a:rPr lang="zh-CN" altLang="en-US" sz="1600" dirty="0">
                <a:solidFill>
                  <a:schemeClr val="bg1"/>
                </a:solidFill>
              </a:rPr>
              <a:t>보고자: 부가우</a:t>
            </a:r>
            <a:endParaRPr lang="zh-CN" altLang="en-US" sz="1600" dirty="0">
              <a:solidFill>
                <a:schemeClr val="bg1"/>
              </a:solidFill>
            </a:endParaRPr>
          </a:p>
        </p:txBody>
      </p:sp>
      <p:sp>
        <p:nvSpPr>
          <p:cNvPr id="2" name="任意多边形 1"/>
          <p:cNvSpPr/>
          <p:nvPr/>
        </p:nvSpPr>
        <p:spPr>
          <a:xfrm rot="20907953">
            <a:off x="-1178836" y="-261634"/>
            <a:ext cx="4420071" cy="4710998"/>
          </a:xfrm>
          <a:custGeom>
            <a:avLst/>
            <a:gdLst>
              <a:gd name="connsiteX0" fmla="*/ 21326 w 4420071"/>
              <a:gd name="connsiteY0" fmla="*/ 4697128 h 4710998"/>
              <a:gd name="connsiteX1" fmla="*/ 146455 w 4420071"/>
              <a:gd name="connsiteY1" fmla="*/ 4677877 h 4710998"/>
              <a:gd name="connsiteX2" fmla="*/ 1118606 w 4420071"/>
              <a:gd name="connsiteY2" fmla="*/ 4408370 h 4710998"/>
              <a:gd name="connsiteX3" fmla="*/ 1484366 w 4420071"/>
              <a:gd name="connsiteY3" fmla="*/ 3070458 h 4710998"/>
              <a:gd name="connsiteX4" fmla="*/ 2042631 w 4420071"/>
              <a:gd name="connsiteY4" fmla="*/ 2271562 h 4710998"/>
              <a:gd name="connsiteX5" fmla="*/ 2138884 w 4420071"/>
              <a:gd name="connsiteY5" fmla="*/ 1280160 h 4710998"/>
              <a:gd name="connsiteX6" fmla="*/ 3014783 w 4420071"/>
              <a:gd name="connsiteY6" fmla="*/ 616016 h 4710998"/>
              <a:gd name="connsiteX7" fmla="*/ 3958059 w 4420071"/>
              <a:gd name="connsiteY7" fmla="*/ 558265 h 4710998"/>
              <a:gd name="connsiteX8" fmla="*/ 4420071 w 4420071"/>
              <a:gd name="connsiteY8" fmla="*/ 0 h 471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0071" h="4710998">
                <a:moveTo>
                  <a:pt x="21326" y="4697128"/>
                </a:moveTo>
                <a:cubicBezTo>
                  <a:pt x="-7550" y="4711565"/>
                  <a:pt x="-36425" y="4726003"/>
                  <a:pt x="146455" y="4677877"/>
                </a:cubicBezTo>
                <a:cubicBezTo>
                  <a:pt x="329335" y="4629751"/>
                  <a:pt x="895621" y="4676273"/>
                  <a:pt x="1118606" y="4408370"/>
                </a:cubicBezTo>
                <a:cubicBezTo>
                  <a:pt x="1341591" y="4140467"/>
                  <a:pt x="1330362" y="3426593"/>
                  <a:pt x="1484366" y="3070458"/>
                </a:cubicBezTo>
                <a:cubicBezTo>
                  <a:pt x="1638370" y="2714323"/>
                  <a:pt x="1933545" y="2569945"/>
                  <a:pt x="2042631" y="2271562"/>
                </a:cubicBezTo>
                <a:cubicBezTo>
                  <a:pt x="2151717" y="1973179"/>
                  <a:pt x="1976859" y="1556084"/>
                  <a:pt x="2138884" y="1280160"/>
                </a:cubicBezTo>
                <a:cubicBezTo>
                  <a:pt x="2300909" y="1004236"/>
                  <a:pt x="2711587" y="736332"/>
                  <a:pt x="3014783" y="616016"/>
                </a:cubicBezTo>
                <a:cubicBezTo>
                  <a:pt x="3317979" y="495700"/>
                  <a:pt x="3723844" y="660934"/>
                  <a:pt x="3958059" y="558265"/>
                </a:cubicBezTo>
                <a:cubicBezTo>
                  <a:pt x="4192274" y="455596"/>
                  <a:pt x="4306172" y="227798"/>
                  <a:pt x="4420071" y="0"/>
                </a:cubicBezTo>
              </a:path>
            </a:pathLst>
          </a:custGeom>
          <a:noFill/>
          <a:ln w="19050">
            <a:solidFill>
              <a:srgbClr val="4F64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9916399" y="3701889"/>
            <a:ext cx="2282276" cy="3423522"/>
          </a:xfrm>
          <a:custGeom>
            <a:avLst/>
            <a:gdLst>
              <a:gd name="connsiteX0" fmla="*/ 21326 w 4420071"/>
              <a:gd name="connsiteY0" fmla="*/ 4697128 h 4710998"/>
              <a:gd name="connsiteX1" fmla="*/ 146455 w 4420071"/>
              <a:gd name="connsiteY1" fmla="*/ 4677877 h 4710998"/>
              <a:gd name="connsiteX2" fmla="*/ 1118606 w 4420071"/>
              <a:gd name="connsiteY2" fmla="*/ 4408370 h 4710998"/>
              <a:gd name="connsiteX3" fmla="*/ 1484366 w 4420071"/>
              <a:gd name="connsiteY3" fmla="*/ 3070458 h 4710998"/>
              <a:gd name="connsiteX4" fmla="*/ 2042631 w 4420071"/>
              <a:gd name="connsiteY4" fmla="*/ 2271562 h 4710998"/>
              <a:gd name="connsiteX5" fmla="*/ 2138884 w 4420071"/>
              <a:gd name="connsiteY5" fmla="*/ 1280160 h 4710998"/>
              <a:gd name="connsiteX6" fmla="*/ 3014783 w 4420071"/>
              <a:gd name="connsiteY6" fmla="*/ 616016 h 4710998"/>
              <a:gd name="connsiteX7" fmla="*/ 3958059 w 4420071"/>
              <a:gd name="connsiteY7" fmla="*/ 558265 h 4710998"/>
              <a:gd name="connsiteX8" fmla="*/ 4420071 w 4420071"/>
              <a:gd name="connsiteY8" fmla="*/ 0 h 471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0071" h="4710998">
                <a:moveTo>
                  <a:pt x="21326" y="4697128"/>
                </a:moveTo>
                <a:cubicBezTo>
                  <a:pt x="-7550" y="4711565"/>
                  <a:pt x="-36425" y="4726003"/>
                  <a:pt x="146455" y="4677877"/>
                </a:cubicBezTo>
                <a:cubicBezTo>
                  <a:pt x="329335" y="4629751"/>
                  <a:pt x="895621" y="4676273"/>
                  <a:pt x="1118606" y="4408370"/>
                </a:cubicBezTo>
                <a:cubicBezTo>
                  <a:pt x="1341591" y="4140467"/>
                  <a:pt x="1330362" y="3426593"/>
                  <a:pt x="1484366" y="3070458"/>
                </a:cubicBezTo>
                <a:cubicBezTo>
                  <a:pt x="1638370" y="2714323"/>
                  <a:pt x="1933545" y="2569945"/>
                  <a:pt x="2042631" y="2271562"/>
                </a:cubicBezTo>
                <a:cubicBezTo>
                  <a:pt x="2151717" y="1973179"/>
                  <a:pt x="1976859" y="1556084"/>
                  <a:pt x="2138884" y="1280160"/>
                </a:cubicBezTo>
                <a:cubicBezTo>
                  <a:pt x="2300909" y="1004236"/>
                  <a:pt x="2711587" y="736332"/>
                  <a:pt x="3014783" y="616016"/>
                </a:cubicBezTo>
                <a:cubicBezTo>
                  <a:pt x="3317979" y="495700"/>
                  <a:pt x="3723844" y="660934"/>
                  <a:pt x="3958059" y="558265"/>
                </a:cubicBezTo>
                <a:cubicBezTo>
                  <a:pt x="4192274" y="455596"/>
                  <a:pt x="4306172" y="227798"/>
                  <a:pt x="4420071" y="0"/>
                </a:cubicBezTo>
              </a:path>
            </a:pathLst>
          </a:custGeom>
          <a:noFill/>
          <a:ln w="19050">
            <a:solidFill>
              <a:srgbClr val="DEC6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65280" y="204988"/>
            <a:ext cx="11661440" cy="6448024"/>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4732020" y="683895"/>
            <a:ext cx="3208655" cy="460375"/>
          </a:xfrm>
          <a:prstGeom prst="rect">
            <a:avLst/>
          </a:prstGeom>
          <a:noFill/>
        </p:spPr>
        <p:txBody>
          <a:bodyPr wrap="square" rtlCol="0">
            <a:spAutoFit/>
          </a:bodyPr>
          <a:lstStyle/>
          <a:p>
            <a:pPr algn="ctr"/>
            <a:r>
              <a:rPr lang="zh-CN" altLang="en-US" sz="2400" dirty="0">
                <a:solidFill>
                  <a:schemeClr val="tx1">
                    <a:lumMod val="75000"/>
                    <a:lumOff val="25000"/>
                  </a:schemeClr>
                </a:solidFill>
                <a:latin typeface="思源宋体 CN SemiBold" panose="02020600000000000000" pitchFamily="18" charset="-122"/>
                <a:ea typeface="思源宋体 CN SemiBold" panose="02020600000000000000" pitchFamily="18" charset="-122"/>
              </a:rPr>
              <a:t>연구 배경 및 문제</a:t>
            </a:r>
            <a:endParaRPr lang="zh-CN" altLang="en-US" sz="2400" dirty="0">
              <a:solidFill>
                <a:schemeClr val="tx1">
                  <a:lumMod val="75000"/>
                  <a:lumOff val="25000"/>
                </a:schemeClr>
              </a:solidFill>
              <a:latin typeface="思源宋体 CN SemiBold" panose="02020600000000000000" pitchFamily="18" charset="-122"/>
              <a:ea typeface="思源宋体 CN SemiBold" panose="02020600000000000000" pitchFamily="18" charset="-122"/>
            </a:endParaRPr>
          </a:p>
        </p:txBody>
      </p:sp>
      <p:sp>
        <p:nvSpPr>
          <p:cNvPr id="2" name="文本框 1"/>
          <p:cNvSpPr txBox="1"/>
          <p:nvPr/>
        </p:nvSpPr>
        <p:spPr>
          <a:xfrm>
            <a:off x="688340" y="1206500"/>
            <a:ext cx="10939780" cy="5015865"/>
          </a:xfrm>
          <a:prstGeom prst="rect">
            <a:avLst/>
          </a:prstGeom>
          <a:noFill/>
        </p:spPr>
        <p:txBody>
          <a:bodyPr wrap="square" rtlCol="0">
            <a:spAutoFit/>
          </a:bodyPr>
          <a:p>
            <a:r>
              <a:rPr lang="zh-CN" altLang="en-US" sz="1600"/>
              <a:t>체화 지능의 기원</a:t>
            </a:r>
            <a:endParaRPr lang="zh-CN" altLang="en-US" sz="1600"/>
          </a:p>
          <a:p>
            <a:r>
              <a:rPr lang="en-US" altLang="zh-CN" sz="1600"/>
              <a:t>1950년, 튜링은 저서 『컴퓨팅 기계와 지능』에서 미래 기계의 두 가지 방향성을 제시했다.</a:t>
            </a:r>
            <a:endParaRPr lang="zh-CN" altLang="en-US" sz="1600"/>
          </a:p>
          <a:p>
            <a:r>
              <a:rPr lang="en-US" altLang="zh-CN" sz="1600"/>
              <a:t>· 추상적 능력(예: 체스) → 이체적 지능(예: 신경망, 딥러닝)으로 발전</a:t>
            </a:r>
            <a:endParaRPr lang="zh-CN" altLang="en-US" sz="1600"/>
          </a:p>
          <a:p>
            <a:r>
              <a:rPr lang="en-US" altLang="zh-CN" sz="1600"/>
              <a:t>· 로봇에 센서를 장착하여 인간처럼 학습함으로써 체성지능(embodied intelligence)으로 발전한다.</a:t>
            </a:r>
            <a:endParaRPr lang="zh-CN" altLang="en-US" sz="1600"/>
          </a:p>
          <a:p>
            <a:r>
              <a:rPr lang="en-US" altLang="zh-CN" sz="1600"/>
              <a:t>· 이동형 지능의 성과와 한계</a:t>
            </a:r>
            <a:endParaRPr lang="zh-CN" altLang="en-US" sz="1600"/>
          </a:p>
          <a:p>
            <a:r>
              <a:rPr lang="en-US" altLang="zh-CN" sz="1600"/>
              <a:t>· 성과: 이미지 인식, 자연어 처리, 게임 게임 이론 등의 분야에서 인간을 초월하는 성능을 보입니다.</a:t>
            </a:r>
            <a:endParaRPr lang="zh-CN" altLang="en-US" sz="1600"/>
          </a:p>
          <a:p>
            <a:r>
              <a:rPr lang="en-US" altLang="zh-CN" sz="1600"/>
              <a:t>· 제한 사항: 정적 데이터만을 처리할 수 있으며, 물리적 세계와의 상호작용이 부족하여 로봇의 잡기, 내비게이션과 같은 실제 세계의 복잡한 문제들을 해결하기 어렵습니다.</a:t>
            </a:r>
            <a:endParaRPr lang="zh-CN" altLang="en-US" sz="1600"/>
          </a:p>
          <a:p>
            <a:r>
              <a:rPr lang="en-US" altLang="zh-CN" sz="1600"/>
              <a:t>· 몸에 내장된 지능의 필요성</a:t>
            </a:r>
            <a:endParaRPr lang="zh-CN" altLang="en-US" sz="1600"/>
          </a:p>
          <a:p>
            <a:r>
              <a:rPr lang="en-US" altLang="zh-CN" sz="1600"/>
              <a:t>· 물리적 신체를 가지고 있어 환경과 정보 및 에너지를 교환할 수 있다.</a:t>
            </a:r>
            <a:endParaRPr lang="zh-CN" altLang="en-US" sz="1600"/>
          </a:p>
          <a:p>
            <a:r>
              <a:rPr lang="en-US" altLang="zh-CN" sz="1600"/>
              <a:t>· 상호작용과 실시간 피드백을 강조함으로써 동적이고 불확실한 현실 환경에 적응할 수 있습니다.</a:t>
            </a:r>
            <a:endParaRPr lang="zh-CN" altLang="en-US" sz="1600"/>
          </a:p>
          <a:p>
            <a:r>
              <a:rPr lang="en-US" altLang="zh-CN" sz="1600"/>
              <a:t>· 전통적인 로봇의 딜레마</a:t>
            </a:r>
            <a:endParaRPr lang="zh-CN" altLang="en-US" sz="1600"/>
          </a:p>
          <a:p>
            <a:r>
              <a:rPr lang="en-US" altLang="zh-CN" sz="1600"/>
              <a:t>· 데이터 수집의 어려움: 실제 세계에서의 상호작용 데이터는 수집 비용이 높고 소요 시간이 길다.</a:t>
            </a:r>
            <a:endParaRPr lang="zh-CN" altLang="en-US" sz="1600"/>
          </a:p>
          <a:p>
            <a:r>
              <a:rPr lang="en-US" altLang="zh-CN" sz="1600"/>
              <a:t>· 일반화 능력이 낮음: 훈련된 모델은 특정 시나리오에서만 작동하며, 새로운 객체나 새로운 배치에 대응할 수 없습니다.</a:t>
            </a:r>
            <a:endParaRPr lang="zh-CN" altLang="en-US" sz="1600"/>
          </a:p>
          <a:p>
            <a:r>
              <a:rPr lang="en-US" altLang="zh-CN" sz="1600"/>
              <a:t>· 작업이 단일화되어 있어 각 작업을 개별적으로 설계해야 하며, 일반화된 기능이 부족합니다.</a:t>
            </a:r>
            <a:endParaRPr lang="zh-CN" altLang="en-US" sz="1600"/>
          </a:p>
          <a:p>
            <a:r>
              <a:rPr lang="en-US" altLang="zh-CN" sz="1600"/>
              <a:t>· 대형 모델의 돌파구</a:t>
            </a:r>
            <a:endParaRPr lang="zh-CN" altLang="en-US" sz="1600"/>
          </a:p>
          <a:p>
            <a:r>
              <a:rPr lang="en-US" altLang="zh-CN" sz="1600"/>
              <a:t>· 인터넷 규모의 데이터를 기반으로 한 사전 학습을 통해 세계 지식, 상식 추론, 다중 모달 이해 능력을 갖추고 있습니다.</a:t>
            </a:r>
            <a:endParaRPr lang="zh-CN" altLang="en-US" sz="1600"/>
          </a:p>
          <a:p>
            <a:r>
              <a:rPr lang="en-US" altLang="zh-CN" sz="1600"/>
              <a:t>· 제로 샘플(zero-shot) 및 펀 샘플(few-shot) 능력으로 미세 조정 없이도 새로운 작업에 쉽게 적응할 수 있습니다.</a:t>
            </a:r>
            <a:endParaRPr lang="zh-CN" altLang="en-US" sz="1600"/>
          </a:p>
          <a:p>
            <a:r>
              <a:rPr lang="en-US" altLang="zh-CN" sz="1600"/>
              <a:t>· 로봇 분야의 데이터 부족 문제를 해소함으로써 몸체 지능(embodied intelligence)에 강력한 ‘뇌’를 제공합니다.</a:t>
            </a:r>
            <a:endParaRPr lang="zh-CN" altLang="en-US" sz="1600"/>
          </a:p>
          <a:p>
            <a:r>
              <a:rPr lang="en-US" altLang="zh-CN" sz="1600"/>
              <a:t>· 핵심 문제</a:t>
            </a:r>
            <a:endParaRPr lang="zh-CN" altLang="en-US" sz="1600"/>
          </a:p>
          <a:p>
            <a:r>
              <a:rPr lang="zh-CN" altLang="en-US" sz="1600"/>
              <a:t>대형 모델을 몸화된 시스템에 효과적으로 통합하여 ‘감지’에서 ‘행동’으로의 폐루프를 구현하는 동시에 실시간성, 보안성, 일반화성을 어떻게 고려할 수 있을까요?</a:t>
            </a:r>
            <a:endParaRPr lang="zh-CN" altLang="en-US" sz="16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65280" y="204988"/>
            <a:ext cx="11661440" cy="6448024"/>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4206875" y="228600"/>
            <a:ext cx="3369945" cy="460375"/>
          </a:xfrm>
          <a:prstGeom prst="rect">
            <a:avLst/>
          </a:prstGeom>
          <a:noFill/>
        </p:spPr>
        <p:txBody>
          <a:bodyPr wrap="square" rtlCol="0">
            <a:spAutoFit/>
          </a:bodyPr>
          <a:lstStyle/>
          <a:p>
            <a:pPr algn="ctr"/>
            <a:r>
              <a:rPr lang="zh-CN" altLang="en-US" sz="2400" dirty="0">
                <a:solidFill>
                  <a:schemeClr val="tx1">
                    <a:lumMod val="75000"/>
                    <a:lumOff val="25000"/>
                  </a:schemeClr>
                </a:solidFill>
                <a:latin typeface="思源宋体 CN SemiBold" panose="02020600000000000000" pitchFamily="18" charset="-122"/>
                <a:ea typeface="思源宋体 CN SemiBold" panose="02020600000000000000" pitchFamily="18" charset="-122"/>
              </a:rPr>
              <a:t>대형 모델이 지닌 인식 및 이해 능력</a:t>
            </a:r>
            <a:endParaRPr lang="zh-CN" altLang="en-US" sz="2400" dirty="0">
              <a:solidFill>
                <a:schemeClr val="tx1">
                  <a:lumMod val="75000"/>
                  <a:lumOff val="25000"/>
                </a:schemeClr>
              </a:solidFill>
              <a:latin typeface="思源宋体 CN SemiBold" panose="02020600000000000000" pitchFamily="18" charset="-122"/>
              <a:ea typeface="思源宋体 CN SemiBold" panose="02020600000000000000" pitchFamily="18" charset="-122"/>
            </a:endParaRPr>
          </a:p>
        </p:txBody>
      </p:sp>
      <p:grpSp>
        <p:nvGrpSpPr>
          <p:cNvPr id="45" name="组合 44"/>
          <p:cNvGrpSpPr/>
          <p:nvPr>
            <p:custDataLst>
              <p:tags r:id="rId2"/>
            </p:custDataLst>
          </p:nvPr>
        </p:nvGrpSpPr>
        <p:grpSpPr>
          <a:xfrm>
            <a:off x="1371600" y="688975"/>
            <a:ext cx="9137650" cy="5914301"/>
            <a:chOff x="1527021" y="1742171"/>
            <a:chExt cx="9137958" cy="4657494"/>
          </a:xfrm>
        </p:grpSpPr>
        <p:grpSp>
          <p:nvGrpSpPr>
            <p:cNvPr id="46" name="组合 45"/>
            <p:cNvGrpSpPr/>
            <p:nvPr/>
          </p:nvGrpSpPr>
          <p:grpSpPr>
            <a:xfrm>
              <a:off x="1527021" y="1742171"/>
              <a:ext cx="9137650" cy="1269365"/>
              <a:chOff x="1379622" y="1836820"/>
              <a:chExt cx="9137650" cy="1269365"/>
            </a:xfrm>
          </p:grpSpPr>
          <p:sp>
            <p:nvSpPr>
              <p:cNvPr id="57" name="矩形 56"/>
              <p:cNvSpPr/>
              <p:nvPr>
                <p:custDataLst>
                  <p:tags r:id="rId3"/>
                </p:custDataLst>
              </p:nvPr>
            </p:nvSpPr>
            <p:spPr>
              <a:xfrm>
                <a:off x="1379622" y="2037346"/>
                <a:ext cx="48125" cy="625642"/>
              </a:xfrm>
              <a:prstGeom prst="rect">
                <a:avLst/>
              </a:prstGeom>
              <a:solidFill>
                <a:srgbClr val="6F80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8" name="baby-flash-cards-with-book-image_29757"/>
              <p:cNvSpPr>
                <a:spLocks noChangeAspect="1"/>
              </p:cNvSpPr>
              <p:nvPr>
                <p:custDataLst>
                  <p:tags r:id="rId4"/>
                </p:custDataLst>
              </p:nvPr>
            </p:nvSpPr>
            <p:spPr bwMode="auto">
              <a:xfrm>
                <a:off x="1689019" y="2166637"/>
                <a:ext cx="369774" cy="367060"/>
              </a:xfrm>
              <a:custGeom>
                <a:avLst/>
                <a:gdLst>
                  <a:gd name="connsiteX0" fmla="*/ 155290 w 605733"/>
                  <a:gd name="connsiteY0" fmla="*/ 496650 h 601288"/>
                  <a:gd name="connsiteX1" fmla="*/ 155290 w 605733"/>
                  <a:gd name="connsiteY1" fmla="*/ 511959 h 601288"/>
                  <a:gd name="connsiteX2" fmla="*/ 169210 w 605733"/>
                  <a:gd name="connsiteY2" fmla="*/ 511959 h 601288"/>
                  <a:gd name="connsiteX3" fmla="*/ 175093 w 605733"/>
                  <a:gd name="connsiteY3" fmla="*/ 510957 h 601288"/>
                  <a:gd name="connsiteX4" fmla="*/ 178825 w 605733"/>
                  <a:gd name="connsiteY4" fmla="*/ 503804 h 601288"/>
                  <a:gd name="connsiteX5" fmla="*/ 175237 w 605733"/>
                  <a:gd name="connsiteY5" fmla="*/ 497651 h 601288"/>
                  <a:gd name="connsiteX6" fmla="*/ 169497 w 605733"/>
                  <a:gd name="connsiteY6" fmla="*/ 496650 h 601288"/>
                  <a:gd name="connsiteX7" fmla="*/ 155290 w 605733"/>
                  <a:gd name="connsiteY7" fmla="*/ 474616 h 601288"/>
                  <a:gd name="connsiteX8" fmla="*/ 155290 w 605733"/>
                  <a:gd name="connsiteY8" fmla="*/ 487207 h 601288"/>
                  <a:gd name="connsiteX9" fmla="*/ 169210 w 605733"/>
                  <a:gd name="connsiteY9" fmla="*/ 487207 h 601288"/>
                  <a:gd name="connsiteX10" fmla="*/ 175380 w 605733"/>
                  <a:gd name="connsiteY10" fmla="*/ 485776 h 601288"/>
                  <a:gd name="connsiteX11" fmla="*/ 177677 w 605733"/>
                  <a:gd name="connsiteY11" fmla="*/ 480768 h 601288"/>
                  <a:gd name="connsiteX12" fmla="*/ 174519 w 605733"/>
                  <a:gd name="connsiteY12" fmla="*/ 475475 h 601288"/>
                  <a:gd name="connsiteX13" fmla="*/ 167775 w 605733"/>
                  <a:gd name="connsiteY13" fmla="*/ 474616 h 601288"/>
                  <a:gd name="connsiteX14" fmla="*/ 288399 w 605733"/>
                  <a:gd name="connsiteY14" fmla="*/ 473001 h 601288"/>
                  <a:gd name="connsiteX15" fmla="*/ 277075 w 605733"/>
                  <a:gd name="connsiteY15" fmla="*/ 478297 h 601288"/>
                  <a:gd name="connsiteX16" fmla="*/ 272918 w 605733"/>
                  <a:gd name="connsiteY16" fmla="*/ 493183 h 601288"/>
                  <a:gd name="connsiteX17" fmla="*/ 277075 w 605733"/>
                  <a:gd name="connsiteY17" fmla="*/ 508069 h 601288"/>
                  <a:gd name="connsiteX18" fmla="*/ 288399 w 605733"/>
                  <a:gd name="connsiteY18" fmla="*/ 513222 h 601288"/>
                  <a:gd name="connsiteX19" fmla="*/ 299723 w 605733"/>
                  <a:gd name="connsiteY19" fmla="*/ 508069 h 601288"/>
                  <a:gd name="connsiteX20" fmla="*/ 303880 w 605733"/>
                  <a:gd name="connsiteY20" fmla="*/ 493183 h 601288"/>
                  <a:gd name="connsiteX21" fmla="*/ 299723 w 605733"/>
                  <a:gd name="connsiteY21" fmla="*/ 478297 h 601288"/>
                  <a:gd name="connsiteX22" fmla="*/ 288399 w 605733"/>
                  <a:gd name="connsiteY22" fmla="*/ 473001 h 601288"/>
                  <a:gd name="connsiteX23" fmla="*/ 226587 w 605733"/>
                  <a:gd name="connsiteY23" fmla="*/ 473001 h 601288"/>
                  <a:gd name="connsiteX24" fmla="*/ 215263 w 605733"/>
                  <a:gd name="connsiteY24" fmla="*/ 478297 h 601288"/>
                  <a:gd name="connsiteX25" fmla="*/ 210962 w 605733"/>
                  <a:gd name="connsiteY25" fmla="*/ 493183 h 601288"/>
                  <a:gd name="connsiteX26" fmla="*/ 215263 w 605733"/>
                  <a:gd name="connsiteY26" fmla="*/ 508069 h 601288"/>
                  <a:gd name="connsiteX27" fmla="*/ 226587 w 605733"/>
                  <a:gd name="connsiteY27" fmla="*/ 513222 h 601288"/>
                  <a:gd name="connsiteX28" fmla="*/ 237767 w 605733"/>
                  <a:gd name="connsiteY28" fmla="*/ 508069 h 601288"/>
                  <a:gd name="connsiteX29" fmla="*/ 242068 w 605733"/>
                  <a:gd name="connsiteY29" fmla="*/ 493183 h 601288"/>
                  <a:gd name="connsiteX30" fmla="*/ 237767 w 605733"/>
                  <a:gd name="connsiteY30" fmla="*/ 478297 h 601288"/>
                  <a:gd name="connsiteX31" fmla="*/ 226587 w 605733"/>
                  <a:gd name="connsiteY31" fmla="*/ 473001 h 601288"/>
                  <a:gd name="connsiteX32" fmla="*/ 325236 w 605733"/>
                  <a:gd name="connsiteY32" fmla="*/ 464744 h 601288"/>
                  <a:gd name="connsiteX33" fmla="*/ 336990 w 605733"/>
                  <a:gd name="connsiteY33" fmla="*/ 464744 h 601288"/>
                  <a:gd name="connsiteX34" fmla="*/ 336990 w 605733"/>
                  <a:gd name="connsiteY34" fmla="*/ 488208 h 601288"/>
                  <a:gd name="connsiteX35" fmla="*/ 359063 w 605733"/>
                  <a:gd name="connsiteY35" fmla="*/ 464744 h 601288"/>
                  <a:gd name="connsiteX36" fmla="*/ 374543 w 605733"/>
                  <a:gd name="connsiteY36" fmla="*/ 464744 h 601288"/>
                  <a:gd name="connsiteX37" fmla="*/ 351036 w 605733"/>
                  <a:gd name="connsiteY37" fmla="*/ 488208 h 601288"/>
                  <a:gd name="connsiteX38" fmla="*/ 375690 w 605733"/>
                  <a:gd name="connsiteY38" fmla="*/ 521831 h 601288"/>
                  <a:gd name="connsiteX39" fmla="*/ 360353 w 605733"/>
                  <a:gd name="connsiteY39" fmla="*/ 521831 h 601288"/>
                  <a:gd name="connsiteX40" fmla="*/ 342723 w 605733"/>
                  <a:gd name="connsiteY40" fmla="*/ 496936 h 601288"/>
                  <a:gd name="connsiteX41" fmla="*/ 336990 w 605733"/>
                  <a:gd name="connsiteY41" fmla="*/ 502802 h 601288"/>
                  <a:gd name="connsiteX42" fmla="*/ 336990 w 605733"/>
                  <a:gd name="connsiteY42" fmla="*/ 521831 h 601288"/>
                  <a:gd name="connsiteX43" fmla="*/ 325236 w 605733"/>
                  <a:gd name="connsiteY43" fmla="*/ 521831 h 601288"/>
                  <a:gd name="connsiteX44" fmla="*/ 143953 w 605733"/>
                  <a:gd name="connsiteY44" fmla="*/ 464744 h 601288"/>
                  <a:gd name="connsiteX45" fmla="*/ 171649 w 605733"/>
                  <a:gd name="connsiteY45" fmla="*/ 464744 h 601288"/>
                  <a:gd name="connsiteX46" fmla="*/ 186430 w 605733"/>
                  <a:gd name="connsiteY46" fmla="*/ 470753 h 601288"/>
                  <a:gd name="connsiteX47" fmla="*/ 189157 w 605733"/>
                  <a:gd name="connsiteY47" fmla="*/ 479481 h 601288"/>
                  <a:gd name="connsiteX48" fmla="*/ 186430 w 605733"/>
                  <a:gd name="connsiteY48" fmla="*/ 487922 h 601288"/>
                  <a:gd name="connsiteX49" fmla="*/ 182125 w 605733"/>
                  <a:gd name="connsiteY49" fmla="*/ 491213 h 601288"/>
                  <a:gd name="connsiteX50" fmla="*/ 188726 w 605733"/>
                  <a:gd name="connsiteY50" fmla="*/ 496221 h 601288"/>
                  <a:gd name="connsiteX51" fmla="*/ 190879 w 605733"/>
                  <a:gd name="connsiteY51" fmla="*/ 504519 h 601288"/>
                  <a:gd name="connsiteX52" fmla="*/ 188296 w 605733"/>
                  <a:gd name="connsiteY52" fmla="*/ 513676 h 601288"/>
                  <a:gd name="connsiteX53" fmla="*/ 184278 w 605733"/>
                  <a:gd name="connsiteY53" fmla="*/ 518254 h 601288"/>
                  <a:gd name="connsiteX54" fmla="*/ 177820 w 605733"/>
                  <a:gd name="connsiteY54" fmla="*/ 521116 h 601288"/>
                  <a:gd name="connsiteX55" fmla="*/ 169784 w 605733"/>
                  <a:gd name="connsiteY55" fmla="*/ 521831 h 601288"/>
                  <a:gd name="connsiteX56" fmla="*/ 143953 w 605733"/>
                  <a:gd name="connsiteY56" fmla="*/ 521831 h 601288"/>
                  <a:gd name="connsiteX57" fmla="*/ 288399 w 605733"/>
                  <a:gd name="connsiteY57" fmla="*/ 462839 h 601288"/>
                  <a:gd name="connsiteX58" fmla="*/ 307177 w 605733"/>
                  <a:gd name="connsiteY58" fmla="*/ 469566 h 601288"/>
                  <a:gd name="connsiteX59" fmla="*/ 315921 w 605733"/>
                  <a:gd name="connsiteY59" fmla="*/ 493183 h 601288"/>
                  <a:gd name="connsiteX60" fmla="*/ 307177 w 605733"/>
                  <a:gd name="connsiteY60" fmla="*/ 516657 h 601288"/>
                  <a:gd name="connsiteX61" fmla="*/ 288399 w 605733"/>
                  <a:gd name="connsiteY61" fmla="*/ 523384 h 601288"/>
                  <a:gd name="connsiteX62" fmla="*/ 269621 w 605733"/>
                  <a:gd name="connsiteY62" fmla="*/ 516657 h 601288"/>
                  <a:gd name="connsiteX63" fmla="*/ 261021 w 605733"/>
                  <a:gd name="connsiteY63" fmla="*/ 493183 h 601288"/>
                  <a:gd name="connsiteX64" fmla="*/ 269621 w 605733"/>
                  <a:gd name="connsiteY64" fmla="*/ 469566 h 601288"/>
                  <a:gd name="connsiteX65" fmla="*/ 288399 w 605733"/>
                  <a:gd name="connsiteY65" fmla="*/ 462839 h 601288"/>
                  <a:gd name="connsiteX66" fmla="*/ 226587 w 605733"/>
                  <a:gd name="connsiteY66" fmla="*/ 462839 h 601288"/>
                  <a:gd name="connsiteX67" fmla="*/ 245364 w 605733"/>
                  <a:gd name="connsiteY67" fmla="*/ 469566 h 601288"/>
                  <a:gd name="connsiteX68" fmla="*/ 253965 w 605733"/>
                  <a:gd name="connsiteY68" fmla="*/ 493183 h 601288"/>
                  <a:gd name="connsiteX69" fmla="*/ 245364 w 605733"/>
                  <a:gd name="connsiteY69" fmla="*/ 516657 h 601288"/>
                  <a:gd name="connsiteX70" fmla="*/ 226587 w 605733"/>
                  <a:gd name="connsiteY70" fmla="*/ 523384 h 601288"/>
                  <a:gd name="connsiteX71" fmla="*/ 207809 w 605733"/>
                  <a:gd name="connsiteY71" fmla="*/ 516657 h 601288"/>
                  <a:gd name="connsiteX72" fmla="*/ 199065 w 605733"/>
                  <a:gd name="connsiteY72" fmla="*/ 493183 h 601288"/>
                  <a:gd name="connsiteX73" fmla="*/ 207809 w 605733"/>
                  <a:gd name="connsiteY73" fmla="*/ 469566 h 601288"/>
                  <a:gd name="connsiteX74" fmla="*/ 226587 w 605733"/>
                  <a:gd name="connsiteY74" fmla="*/ 462839 h 601288"/>
                  <a:gd name="connsiteX75" fmla="*/ 253977 w 605733"/>
                  <a:gd name="connsiteY75" fmla="*/ 164823 h 601288"/>
                  <a:gd name="connsiteX76" fmla="*/ 265734 w 605733"/>
                  <a:gd name="connsiteY76" fmla="*/ 164823 h 601288"/>
                  <a:gd name="connsiteX77" fmla="*/ 371263 w 605733"/>
                  <a:gd name="connsiteY77" fmla="*/ 288066 h 601288"/>
                  <a:gd name="connsiteX78" fmla="*/ 368109 w 605733"/>
                  <a:gd name="connsiteY78" fmla="*/ 294937 h 601288"/>
                  <a:gd name="connsiteX79" fmla="*/ 351907 w 605733"/>
                  <a:gd name="connsiteY79" fmla="*/ 294937 h 601288"/>
                  <a:gd name="connsiteX80" fmla="*/ 342730 w 605733"/>
                  <a:gd name="connsiteY80" fmla="*/ 303955 h 601288"/>
                  <a:gd name="connsiteX81" fmla="*/ 342730 w 605733"/>
                  <a:gd name="connsiteY81" fmla="*/ 408304 h 601288"/>
                  <a:gd name="connsiteX82" fmla="*/ 333697 w 605733"/>
                  <a:gd name="connsiteY82" fmla="*/ 417465 h 601288"/>
                  <a:gd name="connsiteX83" fmla="*/ 287672 w 605733"/>
                  <a:gd name="connsiteY83" fmla="*/ 417465 h 601288"/>
                  <a:gd name="connsiteX84" fmla="*/ 288675 w 605733"/>
                  <a:gd name="connsiteY84" fmla="*/ 410594 h 601288"/>
                  <a:gd name="connsiteX85" fmla="*/ 288675 w 605733"/>
                  <a:gd name="connsiteY85" fmla="*/ 373521 h 601288"/>
                  <a:gd name="connsiteX86" fmla="*/ 259856 w 605733"/>
                  <a:gd name="connsiteY86" fmla="*/ 344750 h 601288"/>
                  <a:gd name="connsiteX87" fmla="*/ 231036 w 605733"/>
                  <a:gd name="connsiteY87" fmla="*/ 373521 h 601288"/>
                  <a:gd name="connsiteX88" fmla="*/ 231036 w 605733"/>
                  <a:gd name="connsiteY88" fmla="*/ 410594 h 601288"/>
                  <a:gd name="connsiteX89" fmla="*/ 232040 w 605733"/>
                  <a:gd name="connsiteY89" fmla="*/ 417465 h 601288"/>
                  <a:gd name="connsiteX90" fmla="*/ 186014 w 605733"/>
                  <a:gd name="connsiteY90" fmla="*/ 417465 h 601288"/>
                  <a:gd name="connsiteX91" fmla="*/ 176981 w 605733"/>
                  <a:gd name="connsiteY91" fmla="*/ 408304 h 601288"/>
                  <a:gd name="connsiteX92" fmla="*/ 176981 w 605733"/>
                  <a:gd name="connsiteY92" fmla="*/ 303955 h 601288"/>
                  <a:gd name="connsiteX93" fmla="*/ 167805 w 605733"/>
                  <a:gd name="connsiteY93" fmla="*/ 294937 h 601288"/>
                  <a:gd name="connsiteX94" fmla="*/ 151603 w 605733"/>
                  <a:gd name="connsiteY94" fmla="*/ 294937 h 601288"/>
                  <a:gd name="connsiteX95" fmla="*/ 148448 w 605733"/>
                  <a:gd name="connsiteY95" fmla="*/ 288066 h 601288"/>
                  <a:gd name="connsiteX96" fmla="*/ 67115 w 605733"/>
                  <a:gd name="connsiteY96" fmla="*/ 113413 h 601288"/>
                  <a:gd name="connsiteX97" fmla="*/ 30976 w 605733"/>
                  <a:gd name="connsiteY97" fmla="*/ 149488 h 601288"/>
                  <a:gd name="connsiteX98" fmla="*/ 30976 w 605733"/>
                  <a:gd name="connsiteY98" fmla="*/ 534291 h 601288"/>
                  <a:gd name="connsiteX99" fmla="*/ 67115 w 605733"/>
                  <a:gd name="connsiteY99" fmla="*/ 570366 h 601288"/>
                  <a:gd name="connsiteX100" fmla="*/ 452599 w 605733"/>
                  <a:gd name="connsiteY100" fmla="*/ 570366 h 601288"/>
                  <a:gd name="connsiteX101" fmla="*/ 488738 w 605733"/>
                  <a:gd name="connsiteY101" fmla="*/ 534291 h 601288"/>
                  <a:gd name="connsiteX102" fmla="*/ 488738 w 605733"/>
                  <a:gd name="connsiteY102" fmla="*/ 149488 h 601288"/>
                  <a:gd name="connsiteX103" fmla="*/ 452599 w 605733"/>
                  <a:gd name="connsiteY103" fmla="*/ 113413 h 601288"/>
                  <a:gd name="connsiteX104" fmla="*/ 67115 w 605733"/>
                  <a:gd name="connsiteY104" fmla="*/ 82491 h 601288"/>
                  <a:gd name="connsiteX105" fmla="*/ 452599 w 605733"/>
                  <a:gd name="connsiteY105" fmla="*/ 82491 h 601288"/>
                  <a:gd name="connsiteX106" fmla="*/ 519714 w 605733"/>
                  <a:gd name="connsiteY106" fmla="*/ 149488 h 601288"/>
                  <a:gd name="connsiteX107" fmla="*/ 519714 w 605733"/>
                  <a:gd name="connsiteY107" fmla="*/ 534291 h 601288"/>
                  <a:gd name="connsiteX108" fmla="*/ 452599 w 605733"/>
                  <a:gd name="connsiteY108" fmla="*/ 601288 h 601288"/>
                  <a:gd name="connsiteX109" fmla="*/ 67115 w 605733"/>
                  <a:gd name="connsiteY109" fmla="*/ 601288 h 601288"/>
                  <a:gd name="connsiteX110" fmla="*/ 0 w 605733"/>
                  <a:gd name="connsiteY110" fmla="*/ 534291 h 601288"/>
                  <a:gd name="connsiteX111" fmla="*/ 0 w 605733"/>
                  <a:gd name="connsiteY111" fmla="*/ 149488 h 601288"/>
                  <a:gd name="connsiteX112" fmla="*/ 67115 w 605733"/>
                  <a:gd name="connsiteY112" fmla="*/ 82491 h 601288"/>
                  <a:gd name="connsiteX113" fmla="*/ 70530 w 605733"/>
                  <a:gd name="connsiteY113" fmla="*/ 41281 h 601288"/>
                  <a:gd name="connsiteX114" fmla="*/ 497334 w 605733"/>
                  <a:gd name="connsiteY114" fmla="*/ 41281 h 601288"/>
                  <a:gd name="connsiteX115" fmla="*/ 564452 w 605733"/>
                  <a:gd name="connsiteY115" fmla="*/ 108278 h 601288"/>
                  <a:gd name="connsiteX116" fmla="*/ 564452 w 605733"/>
                  <a:gd name="connsiteY116" fmla="*/ 544617 h 601288"/>
                  <a:gd name="connsiteX117" fmla="*/ 548963 w 605733"/>
                  <a:gd name="connsiteY117" fmla="*/ 560078 h 601288"/>
                  <a:gd name="connsiteX118" fmla="*/ 537777 w 605733"/>
                  <a:gd name="connsiteY118" fmla="*/ 555211 h 601288"/>
                  <a:gd name="connsiteX119" fmla="*/ 533474 w 605733"/>
                  <a:gd name="connsiteY119" fmla="*/ 544617 h 601288"/>
                  <a:gd name="connsiteX120" fmla="*/ 533474 w 605733"/>
                  <a:gd name="connsiteY120" fmla="*/ 115436 h 601288"/>
                  <a:gd name="connsiteX121" fmla="*/ 533474 w 605733"/>
                  <a:gd name="connsiteY121" fmla="*/ 108278 h 601288"/>
                  <a:gd name="connsiteX122" fmla="*/ 497334 w 605733"/>
                  <a:gd name="connsiteY122" fmla="*/ 72203 h 601288"/>
                  <a:gd name="connsiteX123" fmla="*/ 493748 w 605733"/>
                  <a:gd name="connsiteY123" fmla="*/ 72203 h 601288"/>
                  <a:gd name="connsiteX124" fmla="*/ 452588 w 605733"/>
                  <a:gd name="connsiteY124" fmla="*/ 72203 h 601288"/>
                  <a:gd name="connsiteX125" fmla="*/ 70530 w 605733"/>
                  <a:gd name="connsiteY125" fmla="*/ 72203 h 601288"/>
                  <a:gd name="connsiteX126" fmla="*/ 56188 w 605733"/>
                  <a:gd name="connsiteY126" fmla="*/ 62611 h 601288"/>
                  <a:gd name="connsiteX127" fmla="*/ 55041 w 605733"/>
                  <a:gd name="connsiteY127" fmla="*/ 56742 h 601288"/>
                  <a:gd name="connsiteX128" fmla="*/ 70530 w 605733"/>
                  <a:gd name="connsiteY128" fmla="*/ 41281 h 601288"/>
                  <a:gd name="connsiteX129" fmla="*/ 111879 w 605733"/>
                  <a:gd name="connsiteY129" fmla="*/ 0 h 601288"/>
                  <a:gd name="connsiteX130" fmla="*/ 538624 w 605733"/>
                  <a:gd name="connsiteY130" fmla="*/ 0 h 601288"/>
                  <a:gd name="connsiteX131" fmla="*/ 605733 w 605733"/>
                  <a:gd name="connsiteY131" fmla="*/ 66997 h 601288"/>
                  <a:gd name="connsiteX132" fmla="*/ 605733 w 605733"/>
                  <a:gd name="connsiteY132" fmla="*/ 503336 h 601288"/>
                  <a:gd name="connsiteX133" fmla="*/ 590246 w 605733"/>
                  <a:gd name="connsiteY133" fmla="*/ 518797 h 601288"/>
                  <a:gd name="connsiteX134" fmla="*/ 574760 w 605733"/>
                  <a:gd name="connsiteY134" fmla="*/ 503336 h 601288"/>
                  <a:gd name="connsiteX135" fmla="*/ 574760 w 605733"/>
                  <a:gd name="connsiteY135" fmla="*/ 66997 h 601288"/>
                  <a:gd name="connsiteX136" fmla="*/ 538624 w 605733"/>
                  <a:gd name="connsiteY136" fmla="*/ 30922 h 601288"/>
                  <a:gd name="connsiteX137" fmla="*/ 111879 w 605733"/>
                  <a:gd name="connsiteY137" fmla="*/ 30922 h 601288"/>
                  <a:gd name="connsiteX138" fmla="*/ 96392 w 605733"/>
                  <a:gd name="connsiteY138" fmla="*/ 15461 h 601288"/>
                  <a:gd name="connsiteX139" fmla="*/ 111879 w 605733"/>
                  <a:gd name="connsiteY139" fmla="*/ 0 h 601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5733" h="601288">
                    <a:moveTo>
                      <a:pt x="155290" y="496650"/>
                    </a:moveTo>
                    <a:lnTo>
                      <a:pt x="155290" y="511959"/>
                    </a:lnTo>
                    <a:lnTo>
                      <a:pt x="169210" y="511959"/>
                    </a:lnTo>
                    <a:cubicBezTo>
                      <a:pt x="171793" y="511959"/>
                      <a:pt x="173658" y="511530"/>
                      <a:pt x="175093" y="510957"/>
                    </a:cubicBezTo>
                    <a:cubicBezTo>
                      <a:pt x="177533" y="509670"/>
                      <a:pt x="178825" y="507237"/>
                      <a:pt x="178825" y="503804"/>
                    </a:cubicBezTo>
                    <a:cubicBezTo>
                      <a:pt x="178825" y="500799"/>
                      <a:pt x="177533" y="498796"/>
                      <a:pt x="175237" y="497651"/>
                    </a:cubicBezTo>
                    <a:cubicBezTo>
                      <a:pt x="173802" y="497079"/>
                      <a:pt x="171936" y="496650"/>
                      <a:pt x="169497" y="496650"/>
                    </a:cubicBezTo>
                    <a:close/>
                    <a:moveTo>
                      <a:pt x="155290" y="474616"/>
                    </a:moveTo>
                    <a:lnTo>
                      <a:pt x="155290" y="487207"/>
                    </a:lnTo>
                    <a:lnTo>
                      <a:pt x="169210" y="487207"/>
                    </a:lnTo>
                    <a:cubicBezTo>
                      <a:pt x="171793" y="487207"/>
                      <a:pt x="173802" y="486778"/>
                      <a:pt x="175380" y="485776"/>
                    </a:cubicBezTo>
                    <a:cubicBezTo>
                      <a:pt x="176815" y="484918"/>
                      <a:pt x="177677" y="483201"/>
                      <a:pt x="177677" y="480768"/>
                    </a:cubicBezTo>
                    <a:cubicBezTo>
                      <a:pt x="177677" y="478050"/>
                      <a:pt x="176672" y="476333"/>
                      <a:pt x="174519" y="475475"/>
                    </a:cubicBezTo>
                    <a:cubicBezTo>
                      <a:pt x="172797" y="474902"/>
                      <a:pt x="170501" y="474616"/>
                      <a:pt x="167775" y="474616"/>
                    </a:cubicBezTo>
                    <a:close/>
                    <a:moveTo>
                      <a:pt x="288399" y="473001"/>
                    </a:moveTo>
                    <a:cubicBezTo>
                      <a:pt x="283669" y="473001"/>
                      <a:pt x="279942" y="474719"/>
                      <a:pt x="277075" y="478297"/>
                    </a:cubicBezTo>
                    <a:cubicBezTo>
                      <a:pt x="274352" y="481732"/>
                      <a:pt x="272918" y="486742"/>
                      <a:pt x="272918" y="493183"/>
                    </a:cubicBezTo>
                    <a:cubicBezTo>
                      <a:pt x="272918" y="499624"/>
                      <a:pt x="274352" y="504491"/>
                      <a:pt x="277075" y="508069"/>
                    </a:cubicBezTo>
                    <a:cubicBezTo>
                      <a:pt x="279942" y="511504"/>
                      <a:pt x="283669" y="513222"/>
                      <a:pt x="288399" y="513222"/>
                    </a:cubicBezTo>
                    <a:cubicBezTo>
                      <a:pt x="293130" y="513222"/>
                      <a:pt x="297000" y="511504"/>
                      <a:pt x="299723" y="508069"/>
                    </a:cubicBezTo>
                    <a:cubicBezTo>
                      <a:pt x="302447" y="504491"/>
                      <a:pt x="303880" y="499624"/>
                      <a:pt x="303880" y="493183"/>
                    </a:cubicBezTo>
                    <a:cubicBezTo>
                      <a:pt x="303880" y="486742"/>
                      <a:pt x="302590" y="481732"/>
                      <a:pt x="299723" y="478297"/>
                    </a:cubicBezTo>
                    <a:cubicBezTo>
                      <a:pt x="297000" y="474719"/>
                      <a:pt x="293130" y="473001"/>
                      <a:pt x="288399" y="473001"/>
                    </a:cubicBezTo>
                    <a:close/>
                    <a:moveTo>
                      <a:pt x="226587" y="473001"/>
                    </a:moveTo>
                    <a:cubicBezTo>
                      <a:pt x="221856" y="473001"/>
                      <a:pt x="217986" y="474719"/>
                      <a:pt x="215263" y="478297"/>
                    </a:cubicBezTo>
                    <a:cubicBezTo>
                      <a:pt x="212396" y="481732"/>
                      <a:pt x="210962" y="486742"/>
                      <a:pt x="210962" y="493183"/>
                    </a:cubicBezTo>
                    <a:cubicBezTo>
                      <a:pt x="210962" y="499624"/>
                      <a:pt x="212396" y="504491"/>
                      <a:pt x="215263" y="508069"/>
                    </a:cubicBezTo>
                    <a:cubicBezTo>
                      <a:pt x="217986" y="511504"/>
                      <a:pt x="221856" y="513222"/>
                      <a:pt x="226587" y="513222"/>
                    </a:cubicBezTo>
                    <a:cubicBezTo>
                      <a:pt x="231317" y="513222"/>
                      <a:pt x="235044" y="511504"/>
                      <a:pt x="237767" y="508069"/>
                    </a:cubicBezTo>
                    <a:cubicBezTo>
                      <a:pt x="240634" y="504491"/>
                      <a:pt x="242068" y="499624"/>
                      <a:pt x="242068" y="493183"/>
                    </a:cubicBezTo>
                    <a:cubicBezTo>
                      <a:pt x="242068" y="486742"/>
                      <a:pt x="240634" y="481732"/>
                      <a:pt x="237767" y="478297"/>
                    </a:cubicBezTo>
                    <a:cubicBezTo>
                      <a:pt x="235044" y="474719"/>
                      <a:pt x="231317" y="473001"/>
                      <a:pt x="226587" y="473001"/>
                    </a:cubicBezTo>
                    <a:close/>
                    <a:moveTo>
                      <a:pt x="325236" y="464744"/>
                    </a:moveTo>
                    <a:lnTo>
                      <a:pt x="336990" y="464744"/>
                    </a:lnTo>
                    <a:lnTo>
                      <a:pt x="336990" y="488208"/>
                    </a:lnTo>
                    <a:lnTo>
                      <a:pt x="359063" y="464744"/>
                    </a:lnTo>
                    <a:lnTo>
                      <a:pt x="374543" y="464744"/>
                    </a:lnTo>
                    <a:lnTo>
                      <a:pt x="351036" y="488208"/>
                    </a:lnTo>
                    <a:lnTo>
                      <a:pt x="375690" y="521831"/>
                    </a:lnTo>
                    <a:lnTo>
                      <a:pt x="360353" y="521831"/>
                    </a:lnTo>
                    <a:lnTo>
                      <a:pt x="342723" y="496936"/>
                    </a:lnTo>
                    <a:lnTo>
                      <a:pt x="336990" y="502802"/>
                    </a:lnTo>
                    <a:lnTo>
                      <a:pt x="336990" y="521831"/>
                    </a:lnTo>
                    <a:lnTo>
                      <a:pt x="325236" y="521831"/>
                    </a:lnTo>
                    <a:close/>
                    <a:moveTo>
                      <a:pt x="143953" y="464744"/>
                    </a:moveTo>
                    <a:lnTo>
                      <a:pt x="171649" y="464744"/>
                    </a:lnTo>
                    <a:cubicBezTo>
                      <a:pt x="178538" y="464744"/>
                      <a:pt x="183560" y="466890"/>
                      <a:pt x="186430" y="470753"/>
                    </a:cubicBezTo>
                    <a:cubicBezTo>
                      <a:pt x="188152" y="473185"/>
                      <a:pt x="189157" y="476047"/>
                      <a:pt x="189157" y="479481"/>
                    </a:cubicBezTo>
                    <a:cubicBezTo>
                      <a:pt x="189157" y="483058"/>
                      <a:pt x="188152" y="485776"/>
                      <a:pt x="186430" y="487922"/>
                    </a:cubicBezTo>
                    <a:cubicBezTo>
                      <a:pt x="185426" y="489067"/>
                      <a:pt x="183991" y="490211"/>
                      <a:pt x="182125" y="491213"/>
                    </a:cubicBezTo>
                    <a:cubicBezTo>
                      <a:pt x="184995" y="492214"/>
                      <a:pt x="187148" y="493931"/>
                      <a:pt x="188726" y="496221"/>
                    </a:cubicBezTo>
                    <a:cubicBezTo>
                      <a:pt x="190161" y="498510"/>
                      <a:pt x="190879" y="501228"/>
                      <a:pt x="190879" y="504519"/>
                    </a:cubicBezTo>
                    <a:cubicBezTo>
                      <a:pt x="190879" y="507953"/>
                      <a:pt x="190018" y="510957"/>
                      <a:pt x="188296" y="513676"/>
                    </a:cubicBezTo>
                    <a:cubicBezTo>
                      <a:pt x="187291" y="515536"/>
                      <a:pt x="185856" y="516966"/>
                      <a:pt x="184278" y="518254"/>
                    </a:cubicBezTo>
                    <a:cubicBezTo>
                      <a:pt x="182412" y="519542"/>
                      <a:pt x="180260" y="520543"/>
                      <a:pt x="177820" y="521116"/>
                    </a:cubicBezTo>
                    <a:cubicBezTo>
                      <a:pt x="175380" y="521545"/>
                      <a:pt x="172654" y="521831"/>
                      <a:pt x="169784" y="521831"/>
                    </a:cubicBezTo>
                    <a:lnTo>
                      <a:pt x="143953" y="521831"/>
                    </a:lnTo>
                    <a:close/>
                    <a:moveTo>
                      <a:pt x="288399" y="462839"/>
                    </a:moveTo>
                    <a:cubicBezTo>
                      <a:pt x="296570" y="462839"/>
                      <a:pt x="302877" y="465129"/>
                      <a:pt x="307177" y="469566"/>
                    </a:cubicBezTo>
                    <a:cubicBezTo>
                      <a:pt x="312911" y="474862"/>
                      <a:pt x="315921" y="482734"/>
                      <a:pt x="315921" y="493183"/>
                    </a:cubicBezTo>
                    <a:cubicBezTo>
                      <a:pt x="315921" y="503345"/>
                      <a:pt x="313054" y="511218"/>
                      <a:pt x="307177" y="516657"/>
                    </a:cubicBezTo>
                    <a:cubicBezTo>
                      <a:pt x="302877" y="521094"/>
                      <a:pt x="296570" y="523384"/>
                      <a:pt x="288399" y="523384"/>
                    </a:cubicBezTo>
                    <a:cubicBezTo>
                      <a:pt x="280229" y="523384"/>
                      <a:pt x="274065" y="521237"/>
                      <a:pt x="269621" y="516657"/>
                    </a:cubicBezTo>
                    <a:cubicBezTo>
                      <a:pt x="263888" y="511218"/>
                      <a:pt x="261021" y="503345"/>
                      <a:pt x="261021" y="493183"/>
                    </a:cubicBezTo>
                    <a:cubicBezTo>
                      <a:pt x="261021" y="482734"/>
                      <a:pt x="263888" y="474862"/>
                      <a:pt x="269621" y="469566"/>
                    </a:cubicBezTo>
                    <a:cubicBezTo>
                      <a:pt x="274065" y="465129"/>
                      <a:pt x="280229" y="462839"/>
                      <a:pt x="288399" y="462839"/>
                    </a:cubicBezTo>
                    <a:close/>
                    <a:moveTo>
                      <a:pt x="226587" y="462839"/>
                    </a:moveTo>
                    <a:cubicBezTo>
                      <a:pt x="234757" y="462839"/>
                      <a:pt x="240921" y="465129"/>
                      <a:pt x="245364" y="469566"/>
                    </a:cubicBezTo>
                    <a:cubicBezTo>
                      <a:pt x="251098" y="474862"/>
                      <a:pt x="253965" y="482734"/>
                      <a:pt x="253965" y="493183"/>
                    </a:cubicBezTo>
                    <a:cubicBezTo>
                      <a:pt x="253965" y="503345"/>
                      <a:pt x="251098" y="511218"/>
                      <a:pt x="245364" y="516657"/>
                    </a:cubicBezTo>
                    <a:cubicBezTo>
                      <a:pt x="240921" y="521094"/>
                      <a:pt x="234757" y="523384"/>
                      <a:pt x="226587" y="523384"/>
                    </a:cubicBezTo>
                    <a:cubicBezTo>
                      <a:pt x="218416" y="523384"/>
                      <a:pt x="212109" y="521237"/>
                      <a:pt x="207809" y="516657"/>
                    </a:cubicBezTo>
                    <a:cubicBezTo>
                      <a:pt x="201932" y="511218"/>
                      <a:pt x="199065" y="503345"/>
                      <a:pt x="199065" y="493183"/>
                    </a:cubicBezTo>
                    <a:cubicBezTo>
                      <a:pt x="199065" y="482734"/>
                      <a:pt x="201932" y="474862"/>
                      <a:pt x="207809" y="469566"/>
                    </a:cubicBezTo>
                    <a:cubicBezTo>
                      <a:pt x="212109" y="465129"/>
                      <a:pt x="218416" y="462839"/>
                      <a:pt x="226587" y="462839"/>
                    </a:cubicBezTo>
                    <a:close/>
                    <a:moveTo>
                      <a:pt x="253977" y="164823"/>
                    </a:moveTo>
                    <a:cubicBezTo>
                      <a:pt x="257275" y="161101"/>
                      <a:pt x="262437" y="161101"/>
                      <a:pt x="265734" y="164823"/>
                    </a:cubicBezTo>
                    <a:lnTo>
                      <a:pt x="371263" y="288066"/>
                    </a:lnTo>
                    <a:cubicBezTo>
                      <a:pt x="374561" y="291788"/>
                      <a:pt x="373127" y="294937"/>
                      <a:pt x="368109" y="294937"/>
                    </a:cubicBezTo>
                    <a:lnTo>
                      <a:pt x="351907" y="294937"/>
                    </a:lnTo>
                    <a:cubicBezTo>
                      <a:pt x="346888" y="294937"/>
                      <a:pt x="342730" y="298945"/>
                      <a:pt x="342730" y="303955"/>
                    </a:cubicBezTo>
                    <a:lnTo>
                      <a:pt x="342730" y="408304"/>
                    </a:lnTo>
                    <a:cubicBezTo>
                      <a:pt x="342730" y="413314"/>
                      <a:pt x="338716" y="417465"/>
                      <a:pt x="333697" y="417465"/>
                    </a:cubicBezTo>
                    <a:lnTo>
                      <a:pt x="287672" y="417465"/>
                    </a:lnTo>
                    <a:cubicBezTo>
                      <a:pt x="288245" y="415175"/>
                      <a:pt x="288675" y="413028"/>
                      <a:pt x="288675" y="410594"/>
                    </a:cubicBezTo>
                    <a:lnTo>
                      <a:pt x="288675" y="373521"/>
                    </a:lnTo>
                    <a:cubicBezTo>
                      <a:pt x="288675" y="357632"/>
                      <a:pt x="275771" y="344750"/>
                      <a:pt x="259856" y="344750"/>
                    </a:cubicBezTo>
                    <a:cubicBezTo>
                      <a:pt x="243940" y="344750"/>
                      <a:pt x="231036" y="357632"/>
                      <a:pt x="231036" y="373521"/>
                    </a:cubicBezTo>
                    <a:lnTo>
                      <a:pt x="231036" y="410594"/>
                    </a:lnTo>
                    <a:cubicBezTo>
                      <a:pt x="231036" y="413028"/>
                      <a:pt x="231466" y="415175"/>
                      <a:pt x="232040" y="417465"/>
                    </a:cubicBezTo>
                    <a:lnTo>
                      <a:pt x="186014" y="417465"/>
                    </a:lnTo>
                    <a:cubicBezTo>
                      <a:pt x="180996" y="417465"/>
                      <a:pt x="176981" y="413314"/>
                      <a:pt x="176981" y="408304"/>
                    </a:cubicBezTo>
                    <a:lnTo>
                      <a:pt x="176981" y="303955"/>
                    </a:lnTo>
                    <a:cubicBezTo>
                      <a:pt x="176981" y="298945"/>
                      <a:pt x="172823" y="294937"/>
                      <a:pt x="167805" y="294937"/>
                    </a:cubicBezTo>
                    <a:lnTo>
                      <a:pt x="151603" y="294937"/>
                    </a:lnTo>
                    <a:cubicBezTo>
                      <a:pt x="146584" y="294937"/>
                      <a:pt x="145294" y="291788"/>
                      <a:pt x="148448" y="288066"/>
                    </a:cubicBezTo>
                    <a:close/>
                    <a:moveTo>
                      <a:pt x="67115" y="113413"/>
                    </a:moveTo>
                    <a:cubicBezTo>
                      <a:pt x="47181" y="113413"/>
                      <a:pt x="30976" y="129589"/>
                      <a:pt x="30976" y="149488"/>
                    </a:cubicBezTo>
                    <a:lnTo>
                      <a:pt x="30976" y="534291"/>
                    </a:lnTo>
                    <a:cubicBezTo>
                      <a:pt x="30976" y="554190"/>
                      <a:pt x="47181" y="570366"/>
                      <a:pt x="67115" y="570366"/>
                    </a:cubicBezTo>
                    <a:lnTo>
                      <a:pt x="452599" y="570366"/>
                    </a:lnTo>
                    <a:cubicBezTo>
                      <a:pt x="472533" y="570366"/>
                      <a:pt x="488738" y="554190"/>
                      <a:pt x="488738" y="534291"/>
                    </a:cubicBezTo>
                    <a:lnTo>
                      <a:pt x="488738" y="149488"/>
                    </a:lnTo>
                    <a:cubicBezTo>
                      <a:pt x="488738" y="129589"/>
                      <a:pt x="472533" y="113413"/>
                      <a:pt x="452599" y="113413"/>
                    </a:cubicBezTo>
                    <a:close/>
                    <a:moveTo>
                      <a:pt x="67115" y="82491"/>
                    </a:moveTo>
                    <a:lnTo>
                      <a:pt x="452599" y="82491"/>
                    </a:lnTo>
                    <a:cubicBezTo>
                      <a:pt x="489598" y="82491"/>
                      <a:pt x="519714" y="112554"/>
                      <a:pt x="519714" y="149488"/>
                    </a:cubicBezTo>
                    <a:lnTo>
                      <a:pt x="519714" y="534291"/>
                    </a:lnTo>
                    <a:cubicBezTo>
                      <a:pt x="519714" y="571225"/>
                      <a:pt x="489598" y="601288"/>
                      <a:pt x="452599" y="601288"/>
                    </a:cubicBezTo>
                    <a:lnTo>
                      <a:pt x="67115" y="601288"/>
                    </a:lnTo>
                    <a:cubicBezTo>
                      <a:pt x="30116" y="601288"/>
                      <a:pt x="0" y="571225"/>
                      <a:pt x="0" y="534291"/>
                    </a:cubicBezTo>
                    <a:lnTo>
                      <a:pt x="0" y="149488"/>
                    </a:lnTo>
                    <a:cubicBezTo>
                      <a:pt x="0" y="112554"/>
                      <a:pt x="30116" y="82491"/>
                      <a:pt x="67115" y="82491"/>
                    </a:cubicBezTo>
                    <a:close/>
                    <a:moveTo>
                      <a:pt x="70530" y="41281"/>
                    </a:moveTo>
                    <a:lnTo>
                      <a:pt x="497334" y="41281"/>
                    </a:lnTo>
                    <a:cubicBezTo>
                      <a:pt x="534335" y="41281"/>
                      <a:pt x="564452" y="71344"/>
                      <a:pt x="564452" y="108278"/>
                    </a:cubicBezTo>
                    <a:lnTo>
                      <a:pt x="564452" y="544617"/>
                    </a:lnTo>
                    <a:cubicBezTo>
                      <a:pt x="564452" y="553207"/>
                      <a:pt x="557568" y="560078"/>
                      <a:pt x="548963" y="560078"/>
                    </a:cubicBezTo>
                    <a:cubicBezTo>
                      <a:pt x="544517" y="560078"/>
                      <a:pt x="540502" y="558217"/>
                      <a:pt x="537777" y="555211"/>
                    </a:cubicBezTo>
                    <a:cubicBezTo>
                      <a:pt x="535052" y="552491"/>
                      <a:pt x="533474" y="548769"/>
                      <a:pt x="533474" y="544617"/>
                    </a:cubicBezTo>
                    <a:lnTo>
                      <a:pt x="533474" y="115436"/>
                    </a:lnTo>
                    <a:lnTo>
                      <a:pt x="533474" y="108278"/>
                    </a:lnTo>
                    <a:cubicBezTo>
                      <a:pt x="533474" y="88379"/>
                      <a:pt x="517268" y="72203"/>
                      <a:pt x="497334" y="72203"/>
                    </a:cubicBezTo>
                    <a:lnTo>
                      <a:pt x="493748" y="72203"/>
                    </a:lnTo>
                    <a:lnTo>
                      <a:pt x="452588" y="72203"/>
                    </a:lnTo>
                    <a:lnTo>
                      <a:pt x="70530" y="72203"/>
                    </a:lnTo>
                    <a:cubicBezTo>
                      <a:pt x="64076" y="72203"/>
                      <a:pt x="58483" y="68194"/>
                      <a:pt x="56188" y="62611"/>
                    </a:cubicBezTo>
                    <a:cubicBezTo>
                      <a:pt x="55471" y="60750"/>
                      <a:pt x="55041" y="58889"/>
                      <a:pt x="55041" y="56742"/>
                    </a:cubicBezTo>
                    <a:cubicBezTo>
                      <a:pt x="55041" y="48152"/>
                      <a:pt x="61925" y="41281"/>
                      <a:pt x="70530" y="41281"/>
                    </a:cubicBezTo>
                    <a:close/>
                    <a:moveTo>
                      <a:pt x="111879" y="0"/>
                    </a:moveTo>
                    <a:lnTo>
                      <a:pt x="538624" y="0"/>
                    </a:lnTo>
                    <a:cubicBezTo>
                      <a:pt x="575620" y="0"/>
                      <a:pt x="605733" y="30063"/>
                      <a:pt x="605733" y="66997"/>
                    </a:cubicBezTo>
                    <a:lnTo>
                      <a:pt x="605733" y="503336"/>
                    </a:lnTo>
                    <a:cubicBezTo>
                      <a:pt x="605733" y="511926"/>
                      <a:pt x="598850" y="518797"/>
                      <a:pt x="590246" y="518797"/>
                    </a:cubicBezTo>
                    <a:cubicBezTo>
                      <a:pt x="581643" y="518797"/>
                      <a:pt x="574760" y="511926"/>
                      <a:pt x="574760" y="503336"/>
                    </a:cubicBezTo>
                    <a:lnTo>
                      <a:pt x="574760" y="66997"/>
                    </a:lnTo>
                    <a:cubicBezTo>
                      <a:pt x="574760" y="47098"/>
                      <a:pt x="558556" y="30922"/>
                      <a:pt x="538624" y="30922"/>
                    </a:cubicBezTo>
                    <a:lnTo>
                      <a:pt x="111879" y="30922"/>
                    </a:lnTo>
                    <a:cubicBezTo>
                      <a:pt x="103275" y="30922"/>
                      <a:pt x="96392" y="24050"/>
                      <a:pt x="96392" y="15461"/>
                    </a:cubicBezTo>
                    <a:cubicBezTo>
                      <a:pt x="96392" y="6872"/>
                      <a:pt x="103275" y="0"/>
                      <a:pt x="111879" y="0"/>
                    </a:cubicBezTo>
                    <a:close/>
                  </a:path>
                </a:pathLst>
              </a:custGeom>
              <a:solidFill>
                <a:srgbClr val="6F8083"/>
              </a:solidFill>
              <a:ln>
                <a:noFill/>
              </a:ln>
            </p:spPr>
          </p:sp>
          <p:sp>
            <p:nvSpPr>
              <p:cNvPr id="59" name="矩形 58"/>
              <p:cNvSpPr/>
              <p:nvPr>
                <p:custDataLst>
                  <p:tags r:id="rId5"/>
                </p:custDataLst>
              </p:nvPr>
            </p:nvSpPr>
            <p:spPr>
              <a:xfrm>
                <a:off x="2320057" y="1836820"/>
                <a:ext cx="8197215" cy="1269365"/>
              </a:xfrm>
              <a:prstGeom prst="rect">
                <a:avLst/>
              </a:prstGeom>
              <a:gradFill flip="none" rotWithShape="1">
                <a:gsLst>
                  <a:gs pos="0">
                    <a:schemeClr val="bg1">
                      <a:alpha val="5000"/>
                    </a:schemeClr>
                  </a:gs>
                  <a:gs pos="100000">
                    <a:schemeClr val="bg1">
                      <a:alpha val="45000"/>
                    </a:schemeClr>
                  </a:gs>
                </a:gsLst>
                <a:path path="circle">
                  <a:fillToRect l="50000" t="50000" r="50000" b="50000"/>
                </a:path>
                <a:tileRect/>
              </a:gradFill>
              <a:ln w="28575">
                <a:solidFill>
                  <a:srgbClr val="6F808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0" name="矩形 59"/>
              <p:cNvSpPr/>
              <p:nvPr>
                <p:custDataLst>
                  <p:tags r:id="rId6"/>
                </p:custDataLst>
              </p:nvPr>
            </p:nvSpPr>
            <p:spPr>
              <a:xfrm>
                <a:off x="2765441" y="1837089"/>
                <a:ext cx="6914332" cy="1079631"/>
              </a:xfrm>
              <a:prstGeom prst="rect">
                <a:avLst/>
              </a:prstGeom>
              <a:noFill/>
            </p:spPr>
            <p:txBody>
              <a:bodyPr wrap="square" rtlCol="0">
                <a:spAutoFit/>
              </a:bodyPr>
              <a:lstStyle/>
              <a:p>
                <a:pPr>
                  <a:lnSpc>
                    <a:spcPct val="130000"/>
                  </a:lnSpc>
                </a:pPr>
                <a:r>
                  <a:rPr lang="zh-CN" altLang="en-US" sz="1600" dirty="0">
                    <a:solidFill>
                      <a:srgbClr val="595757"/>
                    </a:solidFill>
                    <a:latin typeface="汉仪全唐诗简" panose="00020600040101010101" pitchFamily="18" charset="-122"/>
                    <a:ea typeface="汉仪全唐诗简" panose="00020600040101010101" pitchFamily="18" charset="-122"/>
                  </a:rPr>
                  <a:t>지각과 이해의 정의</a:t>
                </a:r>
                <a:endParaRPr lang="zh-CN" altLang="en-US" sz="1600" dirty="0">
                  <a:solidFill>
                    <a:srgbClr val="595757"/>
                  </a:solidFill>
                  <a:latin typeface="汉仪全唐诗简" panose="00020600040101010101" pitchFamily="18" charset="-122"/>
                  <a:ea typeface="汉仪全唐诗简" panose="00020600040101010101" pitchFamily="18" charset="-122"/>
                </a:endParaRPr>
              </a:p>
              <a:p>
                <a:pPr>
                  <a:lnSpc>
                    <a:spcPct val="130000"/>
                  </a:lnSpc>
                </a:pPr>
                <a:r>
                  <a:rPr lang="zh-CN" altLang="en-US" sz="1600" dirty="0">
                    <a:solidFill>
                      <a:srgbClr val="595757"/>
                    </a:solidFill>
                    <a:latin typeface="汉仪全唐诗简" panose="00020600040101010101" pitchFamily="18" charset="-122"/>
                    <a:ea typeface="汉仪全唐诗简" panose="00020600040101010101" pitchFamily="18" charset="-122"/>
                  </a:rPr>
                  <a:t>체화형 지능은 카메라, 마이크 등의 센서를 통해 원시 데이터를 수집하고 정보를 분석하여 환경에 대한 인식을 형성합니다. 대형 모델은 이 과정에서 핵심적인 역할을 하며, 다양한 모달 데이터를 통합하여 고차원적인 특징을 추출합니다.</a:t>
                </a:r>
                <a:endParaRPr lang="zh-CN" altLang="en-US" sz="1600" dirty="0">
                  <a:solidFill>
                    <a:srgbClr val="595757"/>
                  </a:solidFill>
                  <a:latin typeface="汉仪全唐诗简" panose="00020600040101010101" pitchFamily="18" charset="-122"/>
                  <a:ea typeface="汉仪全唐诗简" panose="00020600040101010101" pitchFamily="18" charset="-122"/>
                </a:endParaRPr>
              </a:p>
            </p:txBody>
          </p:sp>
        </p:grpSp>
        <p:grpSp>
          <p:nvGrpSpPr>
            <p:cNvPr id="47" name="组合 46"/>
            <p:cNvGrpSpPr/>
            <p:nvPr/>
          </p:nvGrpSpPr>
          <p:grpSpPr>
            <a:xfrm>
              <a:off x="1527021" y="4709960"/>
              <a:ext cx="9137958" cy="1689705"/>
              <a:chOff x="1379622" y="1836820"/>
              <a:chExt cx="9137958" cy="1689705"/>
            </a:xfrm>
          </p:grpSpPr>
          <p:sp>
            <p:nvSpPr>
              <p:cNvPr id="54" name="矩形 53"/>
              <p:cNvSpPr/>
              <p:nvPr>
                <p:custDataLst>
                  <p:tags r:id="rId7"/>
                </p:custDataLst>
              </p:nvPr>
            </p:nvSpPr>
            <p:spPr>
              <a:xfrm>
                <a:off x="1379622" y="2037346"/>
                <a:ext cx="48125" cy="625642"/>
              </a:xfrm>
              <a:prstGeom prst="rect">
                <a:avLst/>
              </a:prstGeom>
              <a:solidFill>
                <a:srgbClr val="6F80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5" name="矩形 54"/>
              <p:cNvSpPr/>
              <p:nvPr>
                <p:custDataLst>
                  <p:tags r:id="rId8"/>
                </p:custDataLst>
              </p:nvPr>
            </p:nvSpPr>
            <p:spPr>
              <a:xfrm>
                <a:off x="2320089" y="1836820"/>
                <a:ext cx="8197491" cy="1689705"/>
              </a:xfrm>
              <a:prstGeom prst="rect">
                <a:avLst/>
              </a:prstGeom>
              <a:gradFill flip="none" rotWithShape="1">
                <a:gsLst>
                  <a:gs pos="0">
                    <a:schemeClr val="bg1">
                      <a:alpha val="5000"/>
                    </a:schemeClr>
                  </a:gs>
                  <a:gs pos="100000">
                    <a:schemeClr val="bg1">
                      <a:alpha val="45000"/>
                    </a:schemeClr>
                  </a:gs>
                </a:gsLst>
                <a:path path="circle">
                  <a:fillToRect l="50000" t="50000" r="50000" b="50000"/>
                </a:path>
                <a:tileRect/>
              </a:gradFill>
              <a:ln w="28575">
                <a:solidFill>
                  <a:srgbClr val="6F808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矩形 55"/>
              <p:cNvSpPr/>
              <p:nvPr>
                <p:custDataLst>
                  <p:tags r:id="rId9"/>
                </p:custDataLst>
              </p:nvPr>
            </p:nvSpPr>
            <p:spPr>
              <a:xfrm>
                <a:off x="2766069" y="1893327"/>
                <a:ext cx="6914332" cy="1583692"/>
              </a:xfrm>
              <a:prstGeom prst="rect">
                <a:avLst/>
              </a:prstGeom>
              <a:noFill/>
            </p:spPr>
            <p:txBody>
              <a:bodyPr wrap="square" rtlCol="0">
                <a:spAutoFit/>
              </a:bodyPr>
              <a:lstStyle/>
              <a:p>
                <a:pPr>
                  <a:lnSpc>
                    <a:spcPct val="130000"/>
                  </a:lnSpc>
                </a:pPr>
                <a:r>
                  <a:rPr lang="en-US" altLang="zh-CN" sz="1600" dirty="0">
                    <a:solidFill>
                      <a:srgbClr val="595757"/>
                    </a:solidFill>
                    <a:latin typeface="汉仪全唐诗简" panose="00020600040101010101" pitchFamily="18" charset="-122"/>
                    <a:ea typeface="汉仪全唐诗简" panose="00020600040101010101" pitchFamily="18" charset="-122"/>
                  </a:rPr>
                  <a:t>· ViLA 성능: 여러 공개 로봇 데이터셋에서 GPT-4V가 생성한 계획은 인간의 시연 영상과 92%의 일치도를 보였습니다.</a:t>
                </a:r>
                <a:endParaRPr lang="zh-CN" altLang="en-US" sz="1600" dirty="0">
                  <a:solidFill>
                    <a:srgbClr val="595757"/>
                  </a:solidFill>
                  <a:latin typeface="汉仪全唐诗简" panose="00020600040101010101" pitchFamily="18" charset="-122"/>
                  <a:ea typeface="汉仪全唐诗简" panose="00020600040101010101" pitchFamily="18" charset="-122"/>
                </a:endParaRPr>
              </a:p>
              <a:p>
                <a:pPr>
                  <a:lnSpc>
                    <a:spcPct val="130000"/>
                  </a:lnSpc>
                </a:pPr>
                <a:r>
                  <a:rPr lang="en-US" altLang="zh-CN" sz="1600" dirty="0">
                    <a:solidFill>
                      <a:srgbClr val="595757"/>
                    </a:solidFill>
                    <a:latin typeface="汉仪全唐诗简" panose="00020600040101010101" pitchFamily="18" charset="-122"/>
                    <a:ea typeface="汉仪全唐诗简" panose="00020600040101010101" pitchFamily="18" charset="-122"/>
                  </a:rPr>
                  <a:t>· MultiPLY: 10가지 이상의 동작 마커와 상태 마커를 정의하며, 터치, 청각과 같은 다중 모달 상호작용을 지원합니다.</a:t>
                </a:r>
                <a:endParaRPr lang="zh-CN" altLang="en-US" sz="1600" dirty="0">
                  <a:solidFill>
                    <a:srgbClr val="595757"/>
                  </a:solidFill>
                  <a:latin typeface="汉仪全唐诗简" panose="00020600040101010101" pitchFamily="18" charset="-122"/>
                  <a:ea typeface="汉仪全唐诗简" panose="00020600040101010101" pitchFamily="18" charset="-122"/>
                </a:endParaRPr>
              </a:p>
              <a:p>
                <a:pPr>
                  <a:lnSpc>
                    <a:spcPct val="130000"/>
                  </a:lnSpc>
                </a:pPr>
                <a:r>
                  <a:rPr lang="en-US" altLang="zh-CN" sz="1600" dirty="0">
                    <a:solidFill>
                      <a:srgbClr val="595757"/>
                    </a:solidFill>
                    <a:latin typeface="汉仪全唐诗简" panose="00020600040101010101" pitchFamily="18" charset="-122"/>
                    <a:ea typeface="汉仪全唐诗简" panose="00020600040101010101" pitchFamily="18" charset="-122"/>
                  </a:rPr>
                  <a:t>· 시각적 단서 효과: MOKA는 미지의 물체를 잡을 때 성공률이 30% 이상 향상되었습니다(순수 언어 명령과 비교).</a:t>
                </a:r>
                <a:endParaRPr lang="zh-CN" altLang="en-US" sz="1600" dirty="0">
                  <a:solidFill>
                    <a:srgbClr val="595757"/>
                  </a:solidFill>
                  <a:latin typeface="汉仪全唐诗简" panose="00020600040101010101" pitchFamily="18" charset="-122"/>
                  <a:ea typeface="汉仪全唐诗简" panose="00020600040101010101" pitchFamily="18" charset="-122"/>
                </a:endParaRPr>
              </a:p>
            </p:txBody>
          </p:sp>
        </p:grpSp>
        <p:grpSp>
          <p:nvGrpSpPr>
            <p:cNvPr id="48" name="组合 47"/>
            <p:cNvGrpSpPr/>
            <p:nvPr/>
          </p:nvGrpSpPr>
          <p:grpSpPr>
            <a:xfrm flipH="1">
              <a:off x="1527021" y="3100051"/>
              <a:ext cx="9137958" cy="1564442"/>
              <a:chOff x="1379622" y="1710805"/>
              <a:chExt cx="9137958" cy="1564442"/>
            </a:xfrm>
          </p:grpSpPr>
          <p:sp>
            <p:nvSpPr>
              <p:cNvPr id="51" name="矩形 50"/>
              <p:cNvSpPr/>
              <p:nvPr>
                <p:custDataLst>
                  <p:tags r:id="rId10"/>
                </p:custDataLst>
              </p:nvPr>
            </p:nvSpPr>
            <p:spPr>
              <a:xfrm>
                <a:off x="1379622" y="2037346"/>
                <a:ext cx="48125" cy="625642"/>
              </a:xfrm>
              <a:prstGeom prst="rect">
                <a:avLst/>
              </a:prstGeom>
              <a:solidFill>
                <a:srgbClr val="C9A3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2" name="矩形 51"/>
              <p:cNvSpPr/>
              <p:nvPr>
                <p:custDataLst>
                  <p:tags r:id="rId11"/>
                </p:custDataLst>
              </p:nvPr>
            </p:nvSpPr>
            <p:spPr>
              <a:xfrm>
                <a:off x="2320089" y="1710805"/>
                <a:ext cx="8197491" cy="1442175"/>
              </a:xfrm>
              <a:prstGeom prst="rect">
                <a:avLst/>
              </a:prstGeom>
              <a:gradFill flip="none" rotWithShape="1">
                <a:gsLst>
                  <a:gs pos="0">
                    <a:schemeClr val="bg1">
                      <a:alpha val="5000"/>
                    </a:schemeClr>
                  </a:gs>
                  <a:gs pos="100000">
                    <a:schemeClr val="bg1">
                      <a:alpha val="45000"/>
                    </a:schemeClr>
                  </a:gs>
                </a:gsLst>
                <a:path path="circle">
                  <a:fillToRect l="50000" t="50000" r="50000" b="50000"/>
                </a:path>
                <a:tileRect/>
              </a:gradFill>
              <a:ln w="28575">
                <a:solidFill>
                  <a:srgbClr val="C9A37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3" name="矩形 52"/>
              <p:cNvSpPr/>
              <p:nvPr>
                <p:custDataLst>
                  <p:tags r:id="rId12"/>
                </p:custDataLst>
              </p:nvPr>
            </p:nvSpPr>
            <p:spPr>
              <a:xfrm>
                <a:off x="2429947" y="1789814"/>
                <a:ext cx="7445626" cy="1485433"/>
              </a:xfrm>
              <a:prstGeom prst="rect">
                <a:avLst/>
              </a:prstGeom>
              <a:noFill/>
            </p:spPr>
            <p:txBody>
              <a:bodyPr wrap="square" rtlCol="0">
                <a:spAutoFit/>
              </a:bodyPr>
              <a:lstStyle/>
              <a:p>
                <a:pPr>
                  <a:lnSpc>
                    <a:spcPct val="130000"/>
                  </a:lnSpc>
                </a:pPr>
                <a:r>
                  <a:rPr lang="zh-CN" altLang="en-US"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rPr>
                  <a:t>모달 모델의 돌파구</a:t>
                </a:r>
                <a:endParaRPr lang="zh-CN" altLang="en-US"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endParaRPr>
              </a:p>
              <a:p>
                <a:pPr>
                  <a:lnSpc>
                    <a:spcPct val="130000"/>
                  </a:lnSpc>
                </a:pPr>
                <a:r>
                  <a:rPr lang="en-US" altLang="zh-CN"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rPr>
                  <a:t>· GPT-4V, Gemini와 같은 모델들은 이미지와 텍스트를 동시에 처리할 수 있으며, 로봇 작업 계획에 직접 활용될 수 있습니다.</a:t>
                </a:r>
                <a:endParaRPr lang="zh-CN" altLang="en-US"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endParaRPr>
              </a:p>
              <a:p>
                <a:pPr>
                  <a:lnSpc>
                    <a:spcPct val="130000"/>
                  </a:lnSpc>
                </a:pPr>
                <a:r>
                  <a:rPr lang="en-US" altLang="zh-CN"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rPr>
                  <a:t>· 입력: 자연어 명령어 + 환경 이미지</a:t>
                </a:r>
                <a:endParaRPr lang="zh-CN" altLang="en-US"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endParaRPr>
              </a:p>
              <a:p>
                <a:pPr>
                  <a:lnSpc>
                    <a:spcPct val="130000"/>
                  </a:lnSpc>
                </a:pPr>
                <a:r>
                  <a:rPr lang="en-US" altLang="zh-CN"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rPr>
                  <a:t>· 출력: 실행 가능한 일련의 작업 단계들</a:t>
                </a:r>
                <a:endParaRPr lang="zh-CN" altLang="en-US"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endParaRPr>
              </a:p>
              <a:p>
                <a:pPr>
                  <a:lnSpc>
                    <a:spcPct val="130000"/>
                  </a:lnSpc>
                </a:pPr>
                <a:r>
                  <a:rPr lang="en-US" altLang="zh-CN" sz="14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rPr>
                  <a:t>· 장점: 특별한 훈련 없이도 개방형 어휘와 복잡한 상황을 이해할 수 있습</a:t>
                </a:r>
                <a:r>
                  <a:rPr lang="en-US" altLang="zh-CN" sz="16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rPr>
                  <a:t>니다.</a:t>
                </a:r>
                <a:endParaRPr lang="zh-CN" altLang="en-US" sz="1600" dirty="0">
                  <a:solidFill>
                    <a:schemeClr val="tx1"/>
                  </a:solidFill>
                  <a:effectLst>
                    <a:outerShdw blurRad="38100" dist="19050" dir="2700000" algn="tl" rotWithShape="0">
                      <a:schemeClr val="dk1">
                        <a:alpha val="40000"/>
                      </a:schemeClr>
                    </a:outerShdw>
                  </a:effectLst>
                  <a:latin typeface="汉仪全唐诗简" panose="00020600040101010101" pitchFamily="18" charset="-122"/>
                  <a:ea typeface="汉仪全唐诗简" panose="00020600040101010101" pitchFamily="18" charset="-122"/>
                </a:endParaRPr>
              </a:p>
            </p:txBody>
          </p:sp>
        </p:grpSp>
        <p:sp>
          <p:nvSpPr>
            <p:cNvPr id="49" name="bitcoin-mobile-phone-secure-shield_37132"/>
            <p:cNvSpPr>
              <a:spLocks noChangeAspect="1"/>
            </p:cNvSpPr>
            <p:nvPr>
              <p:custDataLst>
                <p:tags r:id="rId13"/>
              </p:custDataLst>
            </p:nvPr>
          </p:nvSpPr>
          <p:spPr bwMode="auto">
            <a:xfrm>
              <a:off x="10067304" y="3554526"/>
              <a:ext cx="303824" cy="369774"/>
            </a:xfrm>
            <a:custGeom>
              <a:avLst/>
              <a:gdLst>
                <a:gd name="T0" fmla="*/ 294 w 370"/>
                <a:gd name="T1" fmla="*/ 100 h 451"/>
                <a:gd name="T2" fmla="*/ 250 w 370"/>
                <a:gd name="T3" fmla="*/ 0 h 451"/>
                <a:gd name="T4" fmla="*/ 0 w 370"/>
                <a:gd name="T5" fmla="*/ 46 h 451"/>
                <a:gd name="T6" fmla="*/ 45 w 370"/>
                <a:gd name="T7" fmla="*/ 451 h 451"/>
                <a:gd name="T8" fmla="*/ 294 w 370"/>
                <a:gd name="T9" fmla="*/ 405 h 451"/>
                <a:gd name="T10" fmla="*/ 353 w 370"/>
                <a:gd name="T11" fmla="*/ 121 h 451"/>
                <a:gd name="T12" fmla="*/ 182 w 370"/>
                <a:gd name="T13" fmla="*/ 17 h 451"/>
                <a:gd name="T14" fmla="*/ 182 w 370"/>
                <a:gd name="T15" fmla="*/ 31 h 451"/>
                <a:gd name="T16" fmla="*/ 107 w 370"/>
                <a:gd name="T17" fmla="*/ 24 h 451"/>
                <a:gd name="T18" fmla="*/ 147 w 370"/>
                <a:gd name="T19" fmla="*/ 441 h 451"/>
                <a:gd name="T20" fmla="*/ 147 w 370"/>
                <a:gd name="T21" fmla="*/ 401 h 451"/>
                <a:gd name="T22" fmla="*/ 147 w 370"/>
                <a:gd name="T23" fmla="*/ 441 h 451"/>
                <a:gd name="T24" fmla="*/ 27 w 370"/>
                <a:gd name="T25" fmla="*/ 388 h 451"/>
                <a:gd name="T26" fmla="*/ 27 w 370"/>
                <a:gd name="T27" fmla="*/ 45 h 451"/>
                <a:gd name="T28" fmla="*/ 268 w 370"/>
                <a:gd name="T29" fmla="*/ 46 h 451"/>
                <a:gd name="T30" fmla="*/ 220 w 370"/>
                <a:gd name="T31" fmla="*/ 65 h 451"/>
                <a:gd name="T32" fmla="*/ 87 w 370"/>
                <a:gd name="T33" fmla="*/ 121 h 451"/>
                <a:gd name="T34" fmla="*/ 220 w 370"/>
                <a:gd name="T35" fmla="*/ 369 h 451"/>
                <a:gd name="T36" fmla="*/ 268 w 370"/>
                <a:gd name="T37" fmla="*/ 388 h 451"/>
                <a:gd name="T38" fmla="*/ 220 w 370"/>
                <a:gd name="T39" fmla="*/ 353 h 451"/>
                <a:gd name="T40" fmla="*/ 101 w 370"/>
                <a:gd name="T41" fmla="*/ 137 h 451"/>
                <a:gd name="T42" fmla="*/ 105 w 370"/>
                <a:gd name="T43" fmla="*/ 131 h 451"/>
                <a:gd name="T44" fmla="*/ 220 w 370"/>
                <a:gd name="T45" fmla="*/ 82 h 451"/>
                <a:gd name="T46" fmla="*/ 335 w 370"/>
                <a:gd name="T47" fmla="*/ 131 h 451"/>
                <a:gd name="T48" fmla="*/ 339 w 370"/>
                <a:gd name="T49" fmla="*/ 137 h 451"/>
                <a:gd name="T50" fmla="*/ 220 w 370"/>
                <a:gd name="T51" fmla="*/ 97 h 451"/>
                <a:gd name="T52" fmla="*/ 220 w 370"/>
                <a:gd name="T53" fmla="*/ 338 h 451"/>
                <a:gd name="T54" fmla="*/ 220 w 370"/>
                <a:gd name="T55" fmla="*/ 97 h 451"/>
                <a:gd name="T56" fmla="*/ 149 w 370"/>
                <a:gd name="T57" fmla="*/ 212 h 451"/>
                <a:gd name="T58" fmla="*/ 291 w 370"/>
                <a:gd name="T59" fmla="*/ 212 h 451"/>
                <a:gd name="T60" fmla="*/ 245 w 370"/>
                <a:gd name="T61" fmla="*/ 213 h 451"/>
                <a:gd name="T62" fmla="*/ 245 w 370"/>
                <a:gd name="T63" fmla="*/ 206 h 451"/>
                <a:gd name="T64" fmla="*/ 250 w 370"/>
                <a:gd name="T65" fmla="*/ 195 h 451"/>
                <a:gd name="T66" fmla="*/ 240 w 370"/>
                <a:gd name="T67" fmla="*/ 180 h 451"/>
                <a:gd name="T68" fmla="*/ 235 w 370"/>
                <a:gd name="T69" fmla="*/ 167 h 451"/>
                <a:gd name="T70" fmla="*/ 224 w 370"/>
                <a:gd name="T71" fmla="*/ 178 h 451"/>
                <a:gd name="T72" fmla="*/ 216 w 370"/>
                <a:gd name="T73" fmla="*/ 167 h 451"/>
                <a:gd name="T74" fmla="*/ 205 w 370"/>
                <a:gd name="T75" fmla="*/ 178 h 451"/>
                <a:gd name="T76" fmla="*/ 187 w 370"/>
                <a:gd name="T77" fmla="*/ 188 h 451"/>
                <a:gd name="T78" fmla="*/ 193 w 370"/>
                <a:gd name="T79" fmla="*/ 188 h 451"/>
                <a:gd name="T80" fmla="*/ 195 w 370"/>
                <a:gd name="T81" fmla="*/ 193 h 451"/>
                <a:gd name="T82" fmla="*/ 195 w 370"/>
                <a:gd name="T83" fmla="*/ 235 h 451"/>
                <a:gd name="T84" fmla="*/ 190 w 370"/>
                <a:gd name="T85" fmla="*/ 237 h 451"/>
                <a:gd name="T86" fmla="*/ 187 w 370"/>
                <a:gd name="T87" fmla="*/ 246 h 451"/>
                <a:gd name="T88" fmla="*/ 205 w 370"/>
                <a:gd name="T89" fmla="*/ 258 h 451"/>
                <a:gd name="T90" fmla="*/ 216 w 370"/>
                <a:gd name="T91" fmla="*/ 246 h 451"/>
                <a:gd name="T92" fmla="*/ 224 w 370"/>
                <a:gd name="T93" fmla="*/ 246 h 451"/>
                <a:gd name="T94" fmla="*/ 235 w 370"/>
                <a:gd name="T95" fmla="*/ 258 h 451"/>
                <a:gd name="T96" fmla="*/ 240 w 370"/>
                <a:gd name="T97" fmla="*/ 244 h 451"/>
                <a:gd name="T98" fmla="*/ 253 w 370"/>
                <a:gd name="T99" fmla="*/ 227 h 451"/>
                <a:gd name="T100" fmla="*/ 245 w 370"/>
                <a:gd name="T101" fmla="*/ 213 h 451"/>
                <a:gd name="T102" fmla="*/ 219 w 370"/>
                <a:gd name="T103" fmla="*/ 189 h 451"/>
                <a:gd name="T104" fmla="*/ 232 w 370"/>
                <a:gd name="T105" fmla="*/ 193 h 451"/>
                <a:gd name="T106" fmla="*/ 232 w 370"/>
                <a:gd name="T107" fmla="*/ 202 h 451"/>
                <a:gd name="T108" fmla="*/ 220 w 370"/>
                <a:gd name="T109" fmla="*/ 206 h 451"/>
                <a:gd name="T110" fmla="*/ 212 w 370"/>
                <a:gd name="T111" fmla="*/ 189 h 451"/>
                <a:gd name="T112" fmla="*/ 228 w 370"/>
                <a:gd name="T113" fmla="*/ 235 h 451"/>
                <a:gd name="T114" fmla="*/ 216 w 370"/>
                <a:gd name="T115" fmla="*/ 235 h 451"/>
                <a:gd name="T116" fmla="*/ 212 w 370"/>
                <a:gd name="T117" fmla="*/ 234 h 451"/>
                <a:gd name="T118" fmla="*/ 212 w 370"/>
                <a:gd name="T119" fmla="*/ 216 h 451"/>
                <a:gd name="T120" fmla="*/ 229 w 370"/>
                <a:gd name="T121" fmla="*/ 217 h 451"/>
                <a:gd name="T122" fmla="*/ 235 w 370"/>
                <a:gd name="T123" fmla="*/ 225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70" h="451">
                  <a:moveTo>
                    <a:pt x="353" y="121"/>
                  </a:moveTo>
                  <a:cubicBezTo>
                    <a:pt x="332" y="114"/>
                    <a:pt x="312" y="107"/>
                    <a:pt x="294" y="100"/>
                  </a:cubicBezTo>
                  <a:lnTo>
                    <a:pt x="294" y="46"/>
                  </a:lnTo>
                  <a:cubicBezTo>
                    <a:pt x="294" y="21"/>
                    <a:pt x="275" y="0"/>
                    <a:pt x="250" y="0"/>
                  </a:cubicBezTo>
                  <a:lnTo>
                    <a:pt x="45" y="0"/>
                  </a:lnTo>
                  <a:cubicBezTo>
                    <a:pt x="20" y="0"/>
                    <a:pt x="0" y="21"/>
                    <a:pt x="0" y="46"/>
                  </a:cubicBezTo>
                  <a:lnTo>
                    <a:pt x="0" y="405"/>
                  </a:lnTo>
                  <a:cubicBezTo>
                    <a:pt x="0" y="430"/>
                    <a:pt x="20" y="451"/>
                    <a:pt x="45" y="451"/>
                  </a:cubicBezTo>
                  <a:lnTo>
                    <a:pt x="250" y="451"/>
                  </a:lnTo>
                  <a:cubicBezTo>
                    <a:pt x="274" y="451"/>
                    <a:pt x="294" y="430"/>
                    <a:pt x="294" y="405"/>
                  </a:cubicBezTo>
                  <a:lnTo>
                    <a:pt x="294" y="315"/>
                  </a:lnTo>
                  <a:cubicBezTo>
                    <a:pt x="370" y="231"/>
                    <a:pt x="353" y="121"/>
                    <a:pt x="353" y="121"/>
                  </a:cubicBezTo>
                  <a:close/>
                  <a:moveTo>
                    <a:pt x="113" y="17"/>
                  </a:moveTo>
                  <a:lnTo>
                    <a:pt x="182" y="17"/>
                  </a:lnTo>
                  <a:cubicBezTo>
                    <a:pt x="185" y="17"/>
                    <a:pt x="188" y="20"/>
                    <a:pt x="188" y="24"/>
                  </a:cubicBezTo>
                  <a:cubicBezTo>
                    <a:pt x="188" y="28"/>
                    <a:pt x="185" y="31"/>
                    <a:pt x="182" y="31"/>
                  </a:cubicBezTo>
                  <a:lnTo>
                    <a:pt x="113" y="31"/>
                  </a:lnTo>
                  <a:cubicBezTo>
                    <a:pt x="110" y="31"/>
                    <a:pt x="107" y="28"/>
                    <a:pt x="107" y="24"/>
                  </a:cubicBezTo>
                  <a:cubicBezTo>
                    <a:pt x="107" y="20"/>
                    <a:pt x="110" y="17"/>
                    <a:pt x="113" y="17"/>
                  </a:cubicBezTo>
                  <a:close/>
                  <a:moveTo>
                    <a:pt x="147" y="441"/>
                  </a:moveTo>
                  <a:cubicBezTo>
                    <a:pt x="136" y="441"/>
                    <a:pt x="127" y="432"/>
                    <a:pt x="127" y="421"/>
                  </a:cubicBezTo>
                  <a:cubicBezTo>
                    <a:pt x="127" y="410"/>
                    <a:pt x="136" y="401"/>
                    <a:pt x="147" y="401"/>
                  </a:cubicBezTo>
                  <a:cubicBezTo>
                    <a:pt x="158" y="401"/>
                    <a:pt x="167" y="410"/>
                    <a:pt x="167" y="421"/>
                  </a:cubicBezTo>
                  <a:cubicBezTo>
                    <a:pt x="167" y="432"/>
                    <a:pt x="158" y="441"/>
                    <a:pt x="147" y="441"/>
                  </a:cubicBezTo>
                  <a:close/>
                  <a:moveTo>
                    <a:pt x="268" y="388"/>
                  </a:moveTo>
                  <a:lnTo>
                    <a:pt x="27" y="388"/>
                  </a:lnTo>
                  <a:lnTo>
                    <a:pt x="27" y="46"/>
                  </a:lnTo>
                  <a:cubicBezTo>
                    <a:pt x="27" y="46"/>
                    <a:pt x="27" y="45"/>
                    <a:pt x="27" y="45"/>
                  </a:cubicBezTo>
                  <a:lnTo>
                    <a:pt x="268" y="45"/>
                  </a:lnTo>
                  <a:cubicBezTo>
                    <a:pt x="268" y="45"/>
                    <a:pt x="268" y="46"/>
                    <a:pt x="268" y="46"/>
                  </a:cubicBezTo>
                  <a:lnTo>
                    <a:pt x="268" y="88"/>
                  </a:lnTo>
                  <a:cubicBezTo>
                    <a:pt x="238" y="75"/>
                    <a:pt x="220" y="65"/>
                    <a:pt x="220" y="65"/>
                  </a:cubicBezTo>
                  <a:lnTo>
                    <a:pt x="220" y="65"/>
                  </a:lnTo>
                  <a:cubicBezTo>
                    <a:pt x="220" y="65"/>
                    <a:pt x="163" y="97"/>
                    <a:pt x="87" y="121"/>
                  </a:cubicBezTo>
                  <a:cubicBezTo>
                    <a:pt x="87" y="121"/>
                    <a:pt x="60" y="292"/>
                    <a:pt x="219" y="369"/>
                  </a:cubicBezTo>
                  <a:lnTo>
                    <a:pt x="220" y="369"/>
                  </a:lnTo>
                  <a:cubicBezTo>
                    <a:pt x="238" y="361"/>
                    <a:pt x="254" y="350"/>
                    <a:pt x="268" y="340"/>
                  </a:cubicBezTo>
                  <a:lnTo>
                    <a:pt x="268" y="388"/>
                  </a:lnTo>
                  <a:close/>
                  <a:moveTo>
                    <a:pt x="223" y="351"/>
                  </a:moveTo>
                  <a:lnTo>
                    <a:pt x="220" y="353"/>
                  </a:lnTo>
                  <a:lnTo>
                    <a:pt x="217" y="351"/>
                  </a:lnTo>
                  <a:cubicBezTo>
                    <a:pt x="101" y="290"/>
                    <a:pt x="99" y="172"/>
                    <a:pt x="101" y="137"/>
                  </a:cubicBezTo>
                  <a:lnTo>
                    <a:pt x="101" y="133"/>
                  </a:lnTo>
                  <a:lnTo>
                    <a:pt x="105" y="131"/>
                  </a:lnTo>
                  <a:cubicBezTo>
                    <a:pt x="157" y="114"/>
                    <a:pt x="197" y="94"/>
                    <a:pt x="217" y="83"/>
                  </a:cubicBezTo>
                  <a:lnTo>
                    <a:pt x="220" y="82"/>
                  </a:lnTo>
                  <a:lnTo>
                    <a:pt x="223" y="83"/>
                  </a:lnTo>
                  <a:cubicBezTo>
                    <a:pt x="239" y="92"/>
                    <a:pt x="282" y="113"/>
                    <a:pt x="335" y="131"/>
                  </a:cubicBezTo>
                  <a:lnTo>
                    <a:pt x="339" y="132"/>
                  </a:lnTo>
                  <a:lnTo>
                    <a:pt x="339" y="137"/>
                  </a:lnTo>
                  <a:cubicBezTo>
                    <a:pt x="342" y="172"/>
                    <a:pt x="340" y="289"/>
                    <a:pt x="223" y="351"/>
                  </a:cubicBezTo>
                  <a:close/>
                  <a:moveTo>
                    <a:pt x="220" y="97"/>
                  </a:moveTo>
                  <a:cubicBezTo>
                    <a:pt x="200" y="108"/>
                    <a:pt x="162" y="126"/>
                    <a:pt x="114" y="142"/>
                  </a:cubicBezTo>
                  <a:cubicBezTo>
                    <a:pt x="112" y="179"/>
                    <a:pt x="118" y="282"/>
                    <a:pt x="220" y="338"/>
                  </a:cubicBezTo>
                  <a:cubicBezTo>
                    <a:pt x="323" y="282"/>
                    <a:pt x="328" y="179"/>
                    <a:pt x="326" y="142"/>
                  </a:cubicBezTo>
                  <a:cubicBezTo>
                    <a:pt x="279" y="126"/>
                    <a:pt x="240" y="107"/>
                    <a:pt x="220" y="97"/>
                  </a:cubicBezTo>
                  <a:close/>
                  <a:moveTo>
                    <a:pt x="220" y="283"/>
                  </a:moveTo>
                  <a:cubicBezTo>
                    <a:pt x="181" y="283"/>
                    <a:pt x="149" y="251"/>
                    <a:pt x="149" y="212"/>
                  </a:cubicBezTo>
                  <a:cubicBezTo>
                    <a:pt x="149" y="173"/>
                    <a:pt x="181" y="141"/>
                    <a:pt x="220" y="141"/>
                  </a:cubicBezTo>
                  <a:cubicBezTo>
                    <a:pt x="259" y="141"/>
                    <a:pt x="291" y="173"/>
                    <a:pt x="291" y="212"/>
                  </a:cubicBezTo>
                  <a:cubicBezTo>
                    <a:pt x="291" y="251"/>
                    <a:pt x="259" y="283"/>
                    <a:pt x="220" y="283"/>
                  </a:cubicBezTo>
                  <a:close/>
                  <a:moveTo>
                    <a:pt x="245" y="213"/>
                  </a:moveTo>
                  <a:cubicBezTo>
                    <a:pt x="243" y="212"/>
                    <a:pt x="241" y="211"/>
                    <a:pt x="237" y="210"/>
                  </a:cubicBezTo>
                  <a:cubicBezTo>
                    <a:pt x="240" y="209"/>
                    <a:pt x="243" y="208"/>
                    <a:pt x="245" y="206"/>
                  </a:cubicBezTo>
                  <a:cubicBezTo>
                    <a:pt x="246" y="205"/>
                    <a:pt x="248" y="203"/>
                    <a:pt x="249" y="201"/>
                  </a:cubicBezTo>
                  <a:cubicBezTo>
                    <a:pt x="250" y="199"/>
                    <a:pt x="250" y="197"/>
                    <a:pt x="250" y="195"/>
                  </a:cubicBezTo>
                  <a:cubicBezTo>
                    <a:pt x="250" y="192"/>
                    <a:pt x="249" y="189"/>
                    <a:pt x="248" y="186"/>
                  </a:cubicBezTo>
                  <a:cubicBezTo>
                    <a:pt x="246" y="184"/>
                    <a:pt x="243" y="182"/>
                    <a:pt x="240" y="180"/>
                  </a:cubicBezTo>
                  <a:cubicBezTo>
                    <a:pt x="238" y="180"/>
                    <a:pt x="237" y="179"/>
                    <a:pt x="235" y="179"/>
                  </a:cubicBezTo>
                  <a:lnTo>
                    <a:pt x="235" y="167"/>
                  </a:lnTo>
                  <a:lnTo>
                    <a:pt x="224" y="167"/>
                  </a:lnTo>
                  <a:lnTo>
                    <a:pt x="224" y="178"/>
                  </a:lnTo>
                  <a:lnTo>
                    <a:pt x="216" y="178"/>
                  </a:lnTo>
                  <a:lnTo>
                    <a:pt x="216" y="167"/>
                  </a:lnTo>
                  <a:lnTo>
                    <a:pt x="205" y="167"/>
                  </a:lnTo>
                  <a:lnTo>
                    <a:pt x="205" y="178"/>
                  </a:lnTo>
                  <a:lnTo>
                    <a:pt x="187" y="178"/>
                  </a:lnTo>
                  <a:lnTo>
                    <a:pt x="187" y="188"/>
                  </a:lnTo>
                  <a:lnTo>
                    <a:pt x="190" y="188"/>
                  </a:lnTo>
                  <a:cubicBezTo>
                    <a:pt x="192" y="188"/>
                    <a:pt x="193" y="188"/>
                    <a:pt x="193" y="188"/>
                  </a:cubicBezTo>
                  <a:cubicBezTo>
                    <a:pt x="194" y="188"/>
                    <a:pt x="194" y="189"/>
                    <a:pt x="195" y="189"/>
                  </a:cubicBezTo>
                  <a:cubicBezTo>
                    <a:pt x="195" y="190"/>
                    <a:pt x="195" y="191"/>
                    <a:pt x="195" y="193"/>
                  </a:cubicBezTo>
                  <a:lnTo>
                    <a:pt x="195" y="231"/>
                  </a:lnTo>
                  <a:cubicBezTo>
                    <a:pt x="195" y="233"/>
                    <a:pt x="195" y="235"/>
                    <a:pt x="195" y="235"/>
                  </a:cubicBezTo>
                  <a:cubicBezTo>
                    <a:pt x="194" y="236"/>
                    <a:pt x="194" y="236"/>
                    <a:pt x="193" y="236"/>
                  </a:cubicBezTo>
                  <a:cubicBezTo>
                    <a:pt x="193" y="237"/>
                    <a:pt x="192" y="237"/>
                    <a:pt x="190" y="237"/>
                  </a:cubicBezTo>
                  <a:lnTo>
                    <a:pt x="187" y="237"/>
                  </a:lnTo>
                  <a:lnTo>
                    <a:pt x="187" y="246"/>
                  </a:lnTo>
                  <a:lnTo>
                    <a:pt x="205" y="246"/>
                  </a:lnTo>
                  <a:lnTo>
                    <a:pt x="205" y="258"/>
                  </a:lnTo>
                  <a:lnTo>
                    <a:pt x="216" y="258"/>
                  </a:lnTo>
                  <a:lnTo>
                    <a:pt x="216" y="246"/>
                  </a:lnTo>
                  <a:lnTo>
                    <a:pt x="223" y="246"/>
                  </a:lnTo>
                  <a:lnTo>
                    <a:pt x="224" y="246"/>
                  </a:lnTo>
                  <a:lnTo>
                    <a:pt x="224" y="258"/>
                  </a:lnTo>
                  <a:lnTo>
                    <a:pt x="235" y="258"/>
                  </a:lnTo>
                  <a:lnTo>
                    <a:pt x="235" y="245"/>
                  </a:lnTo>
                  <a:cubicBezTo>
                    <a:pt x="237" y="245"/>
                    <a:pt x="239" y="245"/>
                    <a:pt x="240" y="244"/>
                  </a:cubicBezTo>
                  <a:cubicBezTo>
                    <a:pt x="244" y="242"/>
                    <a:pt x="247" y="240"/>
                    <a:pt x="249" y="237"/>
                  </a:cubicBezTo>
                  <a:cubicBezTo>
                    <a:pt x="252" y="234"/>
                    <a:pt x="253" y="231"/>
                    <a:pt x="253" y="227"/>
                  </a:cubicBezTo>
                  <a:cubicBezTo>
                    <a:pt x="253" y="224"/>
                    <a:pt x="252" y="221"/>
                    <a:pt x="251" y="219"/>
                  </a:cubicBezTo>
                  <a:cubicBezTo>
                    <a:pt x="249" y="216"/>
                    <a:pt x="247" y="214"/>
                    <a:pt x="245" y="213"/>
                  </a:cubicBezTo>
                  <a:close/>
                  <a:moveTo>
                    <a:pt x="212" y="189"/>
                  </a:moveTo>
                  <a:lnTo>
                    <a:pt x="219" y="189"/>
                  </a:lnTo>
                  <a:cubicBezTo>
                    <a:pt x="224" y="189"/>
                    <a:pt x="227" y="189"/>
                    <a:pt x="229" y="190"/>
                  </a:cubicBezTo>
                  <a:cubicBezTo>
                    <a:pt x="230" y="191"/>
                    <a:pt x="232" y="191"/>
                    <a:pt x="232" y="193"/>
                  </a:cubicBezTo>
                  <a:cubicBezTo>
                    <a:pt x="233" y="194"/>
                    <a:pt x="234" y="195"/>
                    <a:pt x="234" y="197"/>
                  </a:cubicBezTo>
                  <a:cubicBezTo>
                    <a:pt x="234" y="199"/>
                    <a:pt x="233" y="201"/>
                    <a:pt x="232" y="202"/>
                  </a:cubicBezTo>
                  <a:cubicBezTo>
                    <a:pt x="231" y="203"/>
                    <a:pt x="230" y="204"/>
                    <a:pt x="228" y="205"/>
                  </a:cubicBezTo>
                  <a:cubicBezTo>
                    <a:pt x="226" y="205"/>
                    <a:pt x="223" y="206"/>
                    <a:pt x="220" y="206"/>
                  </a:cubicBezTo>
                  <a:lnTo>
                    <a:pt x="212" y="206"/>
                  </a:lnTo>
                  <a:lnTo>
                    <a:pt x="212" y="189"/>
                  </a:lnTo>
                  <a:close/>
                  <a:moveTo>
                    <a:pt x="233" y="231"/>
                  </a:moveTo>
                  <a:cubicBezTo>
                    <a:pt x="232" y="233"/>
                    <a:pt x="230" y="234"/>
                    <a:pt x="228" y="235"/>
                  </a:cubicBezTo>
                  <a:cubicBezTo>
                    <a:pt x="226" y="235"/>
                    <a:pt x="224" y="235"/>
                    <a:pt x="221" y="235"/>
                  </a:cubicBezTo>
                  <a:lnTo>
                    <a:pt x="216" y="235"/>
                  </a:lnTo>
                  <a:cubicBezTo>
                    <a:pt x="214" y="235"/>
                    <a:pt x="213" y="235"/>
                    <a:pt x="213" y="235"/>
                  </a:cubicBezTo>
                  <a:cubicBezTo>
                    <a:pt x="213" y="235"/>
                    <a:pt x="212" y="235"/>
                    <a:pt x="212" y="234"/>
                  </a:cubicBezTo>
                  <a:cubicBezTo>
                    <a:pt x="212" y="234"/>
                    <a:pt x="212" y="233"/>
                    <a:pt x="212" y="231"/>
                  </a:cubicBezTo>
                  <a:lnTo>
                    <a:pt x="212" y="216"/>
                  </a:lnTo>
                  <a:lnTo>
                    <a:pt x="221" y="216"/>
                  </a:lnTo>
                  <a:cubicBezTo>
                    <a:pt x="225" y="216"/>
                    <a:pt x="228" y="216"/>
                    <a:pt x="229" y="217"/>
                  </a:cubicBezTo>
                  <a:cubicBezTo>
                    <a:pt x="231" y="218"/>
                    <a:pt x="233" y="219"/>
                    <a:pt x="234" y="220"/>
                  </a:cubicBezTo>
                  <a:cubicBezTo>
                    <a:pt x="235" y="221"/>
                    <a:pt x="235" y="223"/>
                    <a:pt x="235" y="225"/>
                  </a:cubicBezTo>
                  <a:cubicBezTo>
                    <a:pt x="235" y="228"/>
                    <a:pt x="234" y="230"/>
                    <a:pt x="233" y="231"/>
                  </a:cubicBezTo>
                  <a:close/>
                </a:path>
              </a:pathLst>
            </a:custGeom>
            <a:solidFill>
              <a:srgbClr val="C9A37D"/>
            </a:solidFill>
            <a:ln>
              <a:noFill/>
            </a:ln>
          </p:spPr>
        </p:sp>
        <p:sp>
          <p:nvSpPr>
            <p:cNvPr id="50" name="analytics_237483"/>
            <p:cNvSpPr>
              <a:spLocks noChangeAspect="1"/>
            </p:cNvSpPr>
            <p:nvPr>
              <p:custDataLst>
                <p:tags r:id="rId14"/>
              </p:custDataLst>
            </p:nvPr>
          </p:nvSpPr>
          <p:spPr bwMode="auto">
            <a:xfrm>
              <a:off x="1836418" y="5073262"/>
              <a:ext cx="369774" cy="344566"/>
            </a:xfrm>
            <a:custGeom>
              <a:avLst/>
              <a:gdLst>
                <a:gd name="connsiteX0" fmla="*/ 261052 w 607639"/>
                <a:gd name="connsiteY0" fmla="*/ 444915 h 566217"/>
                <a:gd name="connsiteX1" fmla="*/ 245922 w 607639"/>
                <a:gd name="connsiteY1" fmla="*/ 505522 h 566217"/>
                <a:gd name="connsiteX2" fmla="*/ 361717 w 607639"/>
                <a:gd name="connsiteY2" fmla="*/ 505522 h 566217"/>
                <a:gd name="connsiteX3" fmla="*/ 346498 w 607639"/>
                <a:gd name="connsiteY3" fmla="*/ 444915 h 566217"/>
                <a:gd name="connsiteX4" fmla="*/ 0 w 607639"/>
                <a:gd name="connsiteY4" fmla="*/ 364047 h 566217"/>
                <a:gd name="connsiteX5" fmla="*/ 607639 w 607639"/>
                <a:gd name="connsiteY5" fmla="*/ 364047 h 566217"/>
                <a:gd name="connsiteX6" fmla="*/ 607639 w 607639"/>
                <a:gd name="connsiteY6" fmla="*/ 399416 h 566217"/>
                <a:gd name="connsiteX7" fmla="*/ 562068 w 607639"/>
                <a:gd name="connsiteY7" fmla="*/ 444915 h 566217"/>
                <a:gd name="connsiteX8" fmla="*/ 367414 w 607639"/>
                <a:gd name="connsiteY8" fmla="*/ 444915 h 566217"/>
                <a:gd name="connsiteX9" fmla="*/ 382634 w 607639"/>
                <a:gd name="connsiteY9" fmla="*/ 505522 h 566217"/>
                <a:gd name="connsiteX10" fmla="*/ 384859 w 607639"/>
                <a:gd name="connsiteY10" fmla="*/ 505522 h 566217"/>
                <a:gd name="connsiteX11" fmla="*/ 435414 w 607639"/>
                <a:gd name="connsiteY11" fmla="*/ 556086 h 566217"/>
                <a:gd name="connsiteX12" fmla="*/ 425356 w 607639"/>
                <a:gd name="connsiteY12" fmla="*/ 566217 h 566217"/>
                <a:gd name="connsiteX13" fmla="*/ 182283 w 607639"/>
                <a:gd name="connsiteY13" fmla="*/ 566217 h 566217"/>
                <a:gd name="connsiteX14" fmla="*/ 172136 w 607639"/>
                <a:gd name="connsiteY14" fmla="*/ 556086 h 566217"/>
                <a:gd name="connsiteX15" fmla="*/ 222780 w 607639"/>
                <a:gd name="connsiteY15" fmla="*/ 505522 h 566217"/>
                <a:gd name="connsiteX16" fmla="*/ 225005 w 607639"/>
                <a:gd name="connsiteY16" fmla="*/ 505522 h 566217"/>
                <a:gd name="connsiteX17" fmla="*/ 240225 w 607639"/>
                <a:gd name="connsiteY17" fmla="*/ 444915 h 566217"/>
                <a:gd name="connsiteX18" fmla="*/ 45571 w 607639"/>
                <a:gd name="connsiteY18" fmla="*/ 444915 h 566217"/>
                <a:gd name="connsiteX19" fmla="*/ 0 w 607639"/>
                <a:gd name="connsiteY19" fmla="*/ 399416 h 566217"/>
                <a:gd name="connsiteX20" fmla="*/ 101288 w 607639"/>
                <a:gd name="connsiteY20" fmla="*/ 283089 h 566217"/>
                <a:gd name="connsiteX21" fmla="*/ 91141 w 607639"/>
                <a:gd name="connsiteY21" fmla="*/ 293221 h 566217"/>
                <a:gd name="connsiteX22" fmla="*/ 101288 w 607639"/>
                <a:gd name="connsiteY22" fmla="*/ 303354 h 566217"/>
                <a:gd name="connsiteX23" fmla="*/ 141785 w 607639"/>
                <a:gd name="connsiteY23" fmla="*/ 303354 h 566217"/>
                <a:gd name="connsiteX24" fmla="*/ 151932 w 607639"/>
                <a:gd name="connsiteY24" fmla="*/ 293221 h 566217"/>
                <a:gd name="connsiteX25" fmla="*/ 141785 w 607639"/>
                <a:gd name="connsiteY25" fmla="*/ 283089 h 566217"/>
                <a:gd name="connsiteX26" fmla="*/ 101288 w 607639"/>
                <a:gd name="connsiteY26" fmla="*/ 242647 h 566217"/>
                <a:gd name="connsiteX27" fmla="*/ 91141 w 607639"/>
                <a:gd name="connsiteY27" fmla="*/ 252780 h 566217"/>
                <a:gd name="connsiteX28" fmla="*/ 101288 w 607639"/>
                <a:gd name="connsiteY28" fmla="*/ 262912 h 566217"/>
                <a:gd name="connsiteX29" fmla="*/ 121492 w 607639"/>
                <a:gd name="connsiteY29" fmla="*/ 262912 h 566217"/>
                <a:gd name="connsiteX30" fmla="*/ 131639 w 607639"/>
                <a:gd name="connsiteY30" fmla="*/ 252780 h 566217"/>
                <a:gd name="connsiteX31" fmla="*/ 121492 w 607639"/>
                <a:gd name="connsiteY31" fmla="*/ 242647 h 566217"/>
                <a:gd name="connsiteX32" fmla="*/ 101288 w 607639"/>
                <a:gd name="connsiteY32" fmla="*/ 202206 h 566217"/>
                <a:gd name="connsiteX33" fmla="*/ 91141 w 607639"/>
                <a:gd name="connsiteY33" fmla="*/ 212339 h 566217"/>
                <a:gd name="connsiteX34" fmla="*/ 101288 w 607639"/>
                <a:gd name="connsiteY34" fmla="*/ 222471 h 566217"/>
                <a:gd name="connsiteX35" fmla="*/ 141785 w 607639"/>
                <a:gd name="connsiteY35" fmla="*/ 222471 h 566217"/>
                <a:gd name="connsiteX36" fmla="*/ 151932 w 607639"/>
                <a:gd name="connsiteY36" fmla="*/ 212339 h 566217"/>
                <a:gd name="connsiteX37" fmla="*/ 141785 w 607639"/>
                <a:gd name="connsiteY37" fmla="*/ 202206 h 566217"/>
                <a:gd name="connsiteX38" fmla="*/ 101288 w 607639"/>
                <a:gd name="connsiteY38" fmla="*/ 161765 h 566217"/>
                <a:gd name="connsiteX39" fmla="*/ 91141 w 607639"/>
                <a:gd name="connsiteY39" fmla="*/ 171897 h 566217"/>
                <a:gd name="connsiteX40" fmla="*/ 101288 w 607639"/>
                <a:gd name="connsiteY40" fmla="*/ 182030 h 566217"/>
                <a:gd name="connsiteX41" fmla="*/ 121492 w 607639"/>
                <a:gd name="connsiteY41" fmla="*/ 182030 h 566217"/>
                <a:gd name="connsiteX42" fmla="*/ 131639 w 607639"/>
                <a:gd name="connsiteY42" fmla="*/ 171897 h 566217"/>
                <a:gd name="connsiteX43" fmla="*/ 121492 w 607639"/>
                <a:gd name="connsiteY43" fmla="*/ 161765 h 566217"/>
                <a:gd name="connsiteX44" fmla="*/ 101288 w 607639"/>
                <a:gd name="connsiteY44" fmla="*/ 121324 h 566217"/>
                <a:gd name="connsiteX45" fmla="*/ 91141 w 607639"/>
                <a:gd name="connsiteY45" fmla="*/ 131456 h 566217"/>
                <a:gd name="connsiteX46" fmla="*/ 101288 w 607639"/>
                <a:gd name="connsiteY46" fmla="*/ 141500 h 566217"/>
                <a:gd name="connsiteX47" fmla="*/ 141785 w 607639"/>
                <a:gd name="connsiteY47" fmla="*/ 141500 h 566217"/>
                <a:gd name="connsiteX48" fmla="*/ 151932 w 607639"/>
                <a:gd name="connsiteY48" fmla="*/ 131456 h 566217"/>
                <a:gd name="connsiteX49" fmla="*/ 141785 w 607639"/>
                <a:gd name="connsiteY49" fmla="*/ 121324 h 566217"/>
                <a:gd name="connsiteX50" fmla="*/ 476000 w 607639"/>
                <a:gd name="connsiteY50" fmla="*/ 101059 h 566217"/>
                <a:gd name="connsiteX51" fmla="*/ 465854 w 607639"/>
                <a:gd name="connsiteY51" fmla="*/ 111191 h 566217"/>
                <a:gd name="connsiteX52" fmla="*/ 476000 w 607639"/>
                <a:gd name="connsiteY52" fmla="*/ 121324 h 566217"/>
                <a:gd name="connsiteX53" fmla="*/ 522372 w 607639"/>
                <a:gd name="connsiteY53" fmla="*/ 121324 h 566217"/>
                <a:gd name="connsiteX54" fmla="*/ 401058 w 607639"/>
                <a:gd name="connsiteY54" fmla="*/ 242559 h 566217"/>
                <a:gd name="connsiteX55" fmla="*/ 317037 w 607639"/>
                <a:gd name="connsiteY55" fmla="*/ 158654 h 566217"/>
                <a:gd name="connsiteX56" fmla="*/ 316859 w 607639"/>
                <a:gd name="connsiteY56" fmla="*/ 158565 h 566217"/>
                <a:gd name="connsiteX57" fmla="*/ 316770 w 607639"/>
                <a:gd name="connsiteY57" fmla="*/ 158387 h 566217"/>
                <a:gd name="connsiteX58" fmla="*/ 315168 w 607639"/>
                <a:gd name="connsiteY58" fmla="*/ 157410 h 566217"/>
                <a:gd name="connsiteX59" fmla="*/ 313477 w 607639"/>
                <a:gd name="connsiteY59" fmla="*/ 156432 h 566217"/>
                <a:gd name="connsiteX60" fmla="*/ 311607 w 607639"/>
                <a:gd name="connsiteY60" fmla="*/ 155988 h 566217"/>
                <a:gd name="connsiteX61" fmla="*/ 309649 w 607639"/>
                <a:gd name="connsiteY61" fmla="*/ 155721 h 566217"/>
                <a:gd name="connsiteX62" fmla="*/ 307869 w 607639"/>
                <a:gd name="connsiteY62" fmla="*/ 156076 h 566217"/>
                <a:gd name="connsiteX63" fmla="*/ 305911 w 607639"/>
                <a:gd name="connsiteY63" fmla="*/ 156521 h 566217"/>
                <a:gd name="connsiteX64" fmla="*/ 304220 w 607639"/>
                <a:gd name="connsiteY64" fmla="*/ 157676 h 566217"/>
                <a:gd name="connsiteX65" fmla="*/ 302707 w 607639"/>
                <a:gd name="connsiteY65" fmla="*/ 158654 h 566217"/>
                <a:gd name="connsiteX66" fmla="*/ 302618 w 607639"/>
                <a:gd name="connsiteY66" fmla="*/ 158832 h 566217"/>
                <a:gd name="connsiteX67" fmla="*/ 302440 w 607639"/>
                <a:gd name="connsiteY67" fmla="*/ 158921 h 566217"/>
                <a:gd name="connsiteX68" fmla="*/ 184953 w 607639"/>
                <a:gd name="connsiteY68" fmla="*/ 286377 h 566217"/>
                <a:gd name="connsiteX69" fmla="*/ 185576 w 607639"/>
                <a:gd name="connsiteY69" fmla="*/ 300687 h 566217"/>
                <a:gd name="connsiteX70" fmla="*/ 192429 w 607639"/>
                <a:gd name="connsiteY70" fmla="*/ 303354 h 566217"/>
                <a:gd name="connsiteX71" fmla="*/ 199906 w 607639"/>
                <a:gd name="connsiteY71" fmla="*/ 300065 h 566217"/>
                <a:gd name="connsiteX72" fmla="*/ 310183 w 607639"/>
                <a:gd name="connsiteY72" fmla="*/ 180430 h 566217"/>
                <a:gd name="connsiteX73" fmla="*/ 393848 w 607639"/>
                <a:gd name="connsiteY73" fmla="*/ 263979 h 566217"/>
                <a:gd name="connsiteX74" fmla="*/ 401058 w 607639"/>
                <a:gd name="connsiteY74" fmla="*/ 266912 h 566217"/>
                <a:gd name="connsiteX75" fmla="*/ 408178 w 607639"/>
                <a:gd name="connsiteY75" fmla="*/ 263979 h 566217"/>
                <a:gd name="connsiteX76" fmla="*/ 536702 w 607639"/>
                <a:gd name="connsiteY76" fmla="*/ 135634 h 566217"/>
                <a:gd name="connsiteX77" fmla="*/ 536702 w 607639"/>
                <a:gd name="connsiteY77" fmla="*/ 182030 h 566217"/>
                <a:gd name="connsiteX78" fmla="*/ 546848 w 607639"/>
                <a:gd name="connsiteY78" fmla="*/ 192074 h 566217"/>
                <a:gd name="connsiteX79" fmla="*/ 556995 w 607639"/>
                <a:gd name="connsiteY79" fmla="*/ 182030 h 566217"/>
                <a:gd name="connsiteX80" fmla="*/ 556995 w 607639"/>
                <a:gd name="connsiteY80" fmla="*/ 111191 h 566217"/>
                <a:gd name="connsiteX81" fmla="*/ 556194 w 607639"/>
                <a:gd name="connsiteY81" fmla="*/ 107369 h 566217"/>
                <a:gd name="connsiteX82" fmla="*/ 550676 w 607639"/>
                <a:gd name="connsiteY82" fmla="*/ 101859 h 566217"/>
                <a:gd name="connsiteX83" fmla="*/ 546848 w 607639"/>
                <a:gd name="connsiteY83" fmla="*/ 101059 h 566217"/>
                <a:gd name="connsiteX84" fmla="*/ 101288 w 607639"/>
                <a:gd name="connsiteY84" fmla="*/ 80882 h 566217"/>
                <a:gd name="connsiteX85" fmla="*/ 91141 w 607639"/>
                <a:gd name="connsiteY85" fmla="*/ 91015 h 566217"/>
                <a:gd name="connsiteX86" fmla="*/ 101288 w 607639"/>
                <a:gd name="connsiteY86" fmla="*/ 101059 h 566217"/>
                <a:gd name="connsiteX87" fmla="*/ 121492 w 607639"/>
                <a:gd name="connsiteY87" fmla="*/ 101059 h 566217"/>
                <a:gd name="connsiteX88" fmla="*/ 131639 w 607639"/>
                <a:gd name="connsiteY88" fmla="*/ 91015 h 566217"/>
                <a:gd name="connsiteX89" fmla="*/ 121492 w 607639"/>
                <a:gd name="connsiteY89" fmla="*/ 80882 h 566217"/>
                <a:gd name="connsiteX90" fmla="*/ 60791 w 607639"/>
                <a:gd name="connsiteY90" fmla="*/ 70750 h 566217"/>
                <a:gd name="connsiteX91" fmla="*/ 50644 w 607639"/>
                <a:gd name="connsiteY91" fmla="*/ 80882 h 566217"/>
                <a:gd name="connsiteX92" fmla="*/ 50644 w 607639"/>
                <a:gd name="connsiteY92" fmla="*/ 303354 h 566217"/>
                <a:gd name="connsiteX93" fmla="*/ 60791 w 607639"/>
                <a:gd name="connsiteY93" fmla="*/ 313486 h 566217"/>
                <a:gd name="connsiteX94" fmla="*/ 70848 w 607639"/>
                <a:gd name="connsiteY94" fmla="*/ 303354 h 566217"/>
                <a:gd name="connsiteX95" fmla="*/ 70848 w 607639"/>
                <a:gd name="connsiteY95" fmla="*/ 80882 h 566217"/>
                <a:gd name="connsiteX96" fmla="*/ 60791 w 607639"/>
                <a:gd name="connsiteY96" fmla="*/ 70750 h 566217"/>
                <a:gd name="connsiteX97" fmla="*/ 45571 w 607639"/>
                <a:gd name="connsiteY97" fmla="*/ 0 h 566217"/>
                <a:gd name="connsiteX98" fmla="*/ 562068 w 607639"/>
                <a:gd name="connsiteY98" fmla="*/ 0 h 566217"/>
                <a:gd name="connsiteX99" fmla="*/ 607639 w 607639"/>
                <a:gd name="connsiteY99" fmla="*/ 45507 h 566217"/>
                <a:gd name="connsiteX100" fmla="*/ 607639 w 607639"/>
                <a:gd name="connsiteY100" fmla="*/ 343795 h 566217"/>
                <a:gd name="connsiteX101" fmla="*/ 0 w 607639"/>
                <a:gd name="connsiteY101" fmla="*/ 343795 h 566217"/>
                <a:gd name="connsiteX102" fmla="*/ 0 w 607639"/>
                <a:gd name="connsiteY102" fmla="*/ 45507 h 566217"/>
                <a:gd name="connsiteX103" fmla="*/ 45571 w 607639"/>
                <a:gd name="connsiteY103" fmla="*/ 0 h 56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566217">
                  <a:moveTo>
                    <a:pt x="261052" y="444915"/>
                  </a:moveTo>
                  <a:lnTo>
                    <a:pt x="245922" y="505522"/>
                  </a:lnTo>
                  <a:lnTo>
                    <a:pt x="361717" y="505522"/>
                  </a:lnTo>
                  <a:lnTo>
                    <a:pt x="346498" y="444915"/>
                  </a:lnTo>
                  <a:close/>
                  <a:moveTo>
                    <a:pt x="0" y="364047"/>
                  </a:moveTo>
                  <a:lnTo>
                    <a:pt x="607639" y="364047"/>
                  </a:lnTo>
                  <a:lnTo>
                    <a:pt x="607639" y="399416"/>
                  </a:lnTo>
                  <a:cubicBezTo>
                    <a:pt x="607639" y="424476"/>
                    <a:pt x="587168" y="444915"/>
                    <a:pt x="562068" y="444915"/>
                  </a:cubicBezTo>
                  <a:lnTo>
                    <a:pt x="367414" y="444915"/>
                  </a:lnTo>
                  <a:lnTo>
                    <a:pt x="382634" y="505522"/>
                  </a:lnTo>
                  <a:lnTo>
                    <a:pt x="384859" y="505522"/>
                  </a:lnTo>
                  <a:cubicBezTo>
                    <a:pt x="412717" y="505522"/>
                    <a:pt x="435414" y="528271"/>
                    <a:pt x="435414" y="556086"/>
                  </a:cubicBezTo>
                  <a:cubicBezTo>
                    <a:pt x="435414" y="561685"/>
                    <a:pt x="430875" y="566217"/>
                    <a:pt x="425356" y="566217"/>
                  </a:cubicBezTo>
                  <a:lnTo>
                    <a:pt x="182283" y="566217"/>
                  </a:lnTo>
                  <a:cubicBezTo>
                    <a:pt x="176675" y="566217"/>
                    <a:pt x="172136" y="561685"/>
                    <a:pt x="172136" y="556086"/>
                  </a:cubicBezTo>
                  <a:cubicBezTo>
                    <a:pt x="172136" y="528271"/>
                    <a:pt x="194833" y="505522"/>
                    <a:pt x="222780" y="505522"/>
                  </a:cubicBezTo>
                  <a:lnTo>
                    <a:pt x="225005" y="505522"/>
                  </a:lnTo>
                  <a:lnTo>
                    <a:pt x="240225" y="444915"/>
                  </a:lnTo>
                  <a:lnTo>
                    <a:pt x="45571" y="444915"/>
                  </a:lnTo>
                  <a:cubicBezTo>
                    <a:pt x="20471" y="444915"/>
                    <a:pt x="0" y="424476"/>
                    <a:pt x="0" y="399416"/>
                  </a:cubicBezTo>
                  <a:close/>
                  <a:moveTo>
                    <a:pt x="101288" y="283089"/>
                  </a:moveTo>
                  <a:cubicBezTo>
                    <a:pt x="95681" y="283089"/>
                    <a:pt x="91141" y="287622"/>
                    <a:pt x="91141" y="293221"/>
                  </a:cubicBezTo>
                  <a:cubicBezTo>
                    <a:pt x="91141" y="298821"/>
                    <a:pt x="95681" y="303354"/>
                    <a:pt x="101288" y="303354"/>
                  </a:cubicBezTo>
                  <a:lnTo>
                    <a:pt x="141785" y="303354"/>
                  </a:lnTo>
                  <a:cubicBezTo>
                    <a:pt x="147393" y="303354"/>
                    <a:pt x="151932" y="298821"/>
                    <a:pt x="151932" y="293221"/>
                  </a:cubicBezTo>
                  <a:cubicBezTo>
                    <a:pt x="151932" y="287622"/>
                    <a:pt x="147393" y="283089"/>
                    <a:pt x="141785" y="283089"/>
                  </a:cubicBezTo>
                  <a:close/>
                  <a:moveTo>
                    <a:pt x="101288" y="242647"/>
                  </a:moveTo>
                  <a:cubicBezTo>
                    <a:pt x="95681" y="242647"/>
                    <a:pt x="91141" y="247180"/>
                    <a:pt x="91141" y="252780"/>
                  </a:cubicBezTo>
                  <a:cubicBezTo>
                    <a:pt x="91141" y="258379"/>
                    <a:pt x="95681" y="262912"/>
                    <a:pt x="101288" y="262912"/>
                  </a:cubicBezTo>
                  <a:lnTo>
                    <a:pt x="121492" y="262912"/>
                  </a:lnTo>
                  <a:cubicBezTo>
                    <a:pt x="127100" y="262912"/>
                    <a:pt x="131639" y="258379"/>
                    <a:pt x="131639" y="252780"/>
                  </a:cubicBezTo>
                  <a:cubicBezTo>
                    <a:pt x="131639" y="247180"/>
                    <a:pt x="127100" y="242647"/>
                    <a:pt x="121492" y="242647"/>
                  </a:cubicBezTo>
                  <a:close/>
                  <a:moveTo>
                    <a:pt x="101288" y="202206"/>
                  </a:moveTo>
                  <a:cubicBezTo>
                    <a:pt x="95681" y="202206"/>
                    <a:pt x="91141" y="206739"/>
                    <a:pt x="91141" y="212339"/>
                  </a:cubicBezTo>
                  <a:cubicBezTo>
                    <a:pt x="91141" y="217938"/>
                    <a:pt x="95681" y="222471"/>
                    <a:pt x="101288" y="222471"/>
                  </a:cubicBezTo>
                  <a:lnTo>
                    <a:pt x="141785" y="222471"/>
                  </a:lnTo>
                  <a:cubicBezTo>
                    <a:pt x="147393" y="222471"/>
                    <a:pt x="151932" y="217938"/>
                    <a:pt x="151932" y="212339"/>
                  </a:cubicBezTo>
                  <a:cubicBezTo>
                    <a:pt x="151932" y="206739"/>
                    <a:pt x="147393" y="202206"/>
                    <a:pt x="141785" y="202206"/>
                  </a:cubicBezTo>
                  <a:close/>
                  <a:moveTo>
                    <a:pt x="101288" y="161765"/>
                  </a:moveTo>
                  <a:cubicBezTo>
                    <a:pt x="95681" y="161765"/>
                    <a:pt x="91141" y="166298"/>
                    <a:pt x="91141" y="171897"/>
                  </a:cubicBezTo>
                  <a:cubicBezTo>
                    <a:pt x="91141" y="177497"/>
                    <a:pt x="95681" y="182030"/>
                    <a:pt x="101288" y="182030"/>
                  </a:cubicBezTo>
                  <a:lnTo>
                    <a:pt x="121492" y="182030"/>
                  </a:lnTo>
                  <a:cubicBezTo>
                    <a:pt x="127100" y="182030"/>
                    <a:pt x="131639" y="177497"/>
                    <a:pt x="131639" y="171897"/>
                  </a:cubicBezTo>
                  <a:cubicBezTo>
                    <a:pt x="131639" y="166298"/>
                    <a:pt x="127100" y="161765"/>
                    <a:pt x="121492" y="161765"/>
                  </a:cubicBezTo>
                  <a:close/>
                  <a:moveTo>
                    <a:pt x="101288" y="121324"/>
                  </a:moveTo>
                  <a:cubicBezTo>
                    <a:pt x="95681" y="121324"/>
                    <a:pt x="91141" y="125857"/>
                    <a:pt x="91141" y="131456"/>
                  </a:cubicBezTo>
                  <a:cubicBezTo>
                    <a:pt x="91141" y="136967"/>
                    <a:pt x="95681" y="141500"/>
                    <a:pt x="101288" y="141500"/>
                  </a:cubicBezTo>
                  <a:lnTo>
                    <a:pt x="141785" y="141500"/>
                  </a:lnTo>
                  <a:cubicBezTo>
                    <a:pt x="147393" y="141500"/>
                    <a:pt x="151932" y="136967"/>
                    <a:pt x="151932" y="131456"/>
                  </a:cubicBezTo>
                  <a:cubicBezTo>
                    <a:pt x="151932" y="125857"/>
                    <a:pt x="147393" y="121324"/>
                    <a:pt x="141785" y="121324"/>
                  </a:cubicBezTo>
                  <a:close/>
                  <a:moveTo>
                    <a:pt x="476000" y="101059"/>
                  </a:moveTo>
                  <a:cubicBezTo>
                    <a:pt x="470393" y="101059"/>
                    <a:pt x="465854" y="105592"/>
                    <a:pt x="465854" y="111191"/>
                  </a:cubicBezTo>
                  <a:cubicBezTo>
                    <a:pt x="465854" y="116791"/>
                    <a:pt x="470393" y="121324"/>
                    <a:pt x="476000" y="121324"/>
                  </a:cubicBezTo>
                  <a:lnTo>
                    <a:pt x="522372" y="121324"/>
                  </a:lnTo>
                  <a:lnTo>
                    <a:pt x="401058" y="242559"/>
                  </a:lnTo>
                  <a:lnTo>
                    <a:pt x="317037" y="158654"/>
                  </a:lnTo>
                  <a:cubicBezTo>
                    <a:pt x="316948" y="158565"/>
                    <a:pt x="316948" y="158565"/>
                    <a:pt x="316859" y="158565"/>
                  </a:cubicBezTo>
                  <a:cubicBezTo>
                    <a:pt x="316859" y="158476"/>
                    <a:pt x="316770" y="158387"/>
                    <a:pt x="316770" y="158387"/>
                  </a:cubicBezTo>
                  <a:cubicBezTo>
                    <a:pt x="316236" y="157943"/>
                    <a:pt x="315702" y="157765"/>
                    <a:pt x="315168" y="157410"/>
                  </a:cubicBezTo>
                  <a:cubicBezTo>
                    <a:pt x="314634" y="157054"/>
                    <a:pt x="314100" y="156610"/>
                    <a:pt x="313477" y="156432"/>
                  </a:cubicBezTo>
                  <a:cubicBezTo>
                    <a:pt x="312854" y="156165"/>
                    <a:pt x="312231" y="156165"/>
                    <a:pt x="311607" y="155988"/>
                  </a:cubicBezTo>
                  <a:cubicBezTo>
                    <a:pt x="310984" y="155899"/>
                    <a:pt x="310361" y="155721"/>
                    <a:pt x="309649" y="155721"/>
                  </a:cubicBezTo>
                  <a:cubicBezTo>
                    <a:pt x="309026" y="155721"/>
                    <a:pt x="308403" y="155988"/>
                    <a:pt x="307869" y="156076"/>
                  </a:cubicBezTo>
                  <a:cubicBezTo>
                    <a:pt x="307157" y="156254"/>
                    <a:pt x="306534" y="156254"/>
                    <a:pt x="305911" y="156521"/>
                  </a:cubicBezTo>
                  <a:cubicBezTo>
                    <a:pt x="305288" y="156788"/>
                    <a:pt x="304754" y="157321"/>
                    <a:pt x="304220" y="157676"/>
                  </a:cubicBezTo>
                  <a:cubicBezTo>
                    <a:pt x="303686" y="158032"/>
                    <a:pt x="303152" y="158210"/>
                    <a:pt x="302707" y="158654"/>
                  </a:cubicBezTo>
                  <a:cubicBezTo>
                    <a:pt x="302707" y="158743"/>
                    <a:pt x="302618" y="158743"/>
                    <a:pt x="302618" y="158832"/>
                  </a:cubicBezTo>
                  <a:cubicBezTo>
                    <a:pt x="302529" y="158921"/>
                    <a:pt x="302440" y="158921"/>
                    <a:pt x="302440" y="158921"/>
                  </a:cubicBezTo>
                  <a:lnTo>
                    <a:pt x="184953" y="286377"/>
                  </a:lnTo>
                  <a:cubicBezTo>
                    <a:pt x="181126" y="290466"/>
                    <a:pt x="181482" y="296865"/>
                    <a:pt x="185576" y="300687"/>
                  </a:cubicBezTo>
                  <a:cubicBezTo>
                    <a:pt x="187534" y="302465"/>
                    <a:pt x="189937" y="303354"/>
                    <a:pt x="192429" y="303354"/>
                  </a:cubicBezTo>
                  <a:cubicBezTo>
                    <a:pt x="195100" y="303354"/>
                    <a:pt x="197859" y="302287"/>
                    <a:pt x="199906" y="300065"/>
                  </a:cubicBezTo>
                  <a:lnTo>
                    <a:pt x="310183" y="180430"/>
                  </a:lnTo>
                  <a:lnTo>
                    <a:pt x="393848" y="263979"/>
                  </a:lnTo>
                  <a:cubicBezTo>
                    <a:pt x="395806" y="265934"/>
                    <a:pt x="398388" y="266912"/>
                    <a:pt x="401058" y="266912"/>
                  </a:cubicBezTo>
                  <a:cubicBezTo>
                    <a:pt x="403639" y="266912"/>
                    <a:pt x="406220" y="265934"/>
                    <a:pt x="408178" y="263979"/>
                  </a:cubicBezTo>
                  <a:lnTo>
                    <a:pt x="536702" y="135634"/>
                  </a:lnTo>
                  <a:lnTo>
                    <a:pt x="536702" y="182030"/>
                  </a:lnTo>
                  <a:cubicBezTo>
                    <a:pt x="536702" y="187541"/>
                    <a:pt x="541241" y="192074"/>
                    <a:pt x="546848" y="192074"/>
                  </a:cubicBezTo>
                  <a:cubicBezTo>
                    <a:pt x="552456" y="192074"/>
                    <a:pt x="556995" y="187541"/>
                    <a:pt x="556995" y="182030"/>
                  </a:cubicBezTo>
                  <a:lnTo>
                    <a:pt x="556995" y="111191"/>
                  </a:lnTo>
                  <a:cubicBezTo>
                    <a:pt x="556995" y="109858"/>
                    <a:pt x="556728" y="108614"/>
                    <a:pt x="556194" y="107369"/>
                  </a:cubicBezTo>
                  <a:cubicBezTo>
                    <a:pt x="555126" y="104881"/>
                    <a:pt x="553168" y="102925"/>
                    <a:pt x="550676" y="101859"/>
                  </a:cubicBezTo>
                  <a:cubicBezTo>
                    <a:pt x="549519" y="101325"/>
                    <a:pt x="548184" y="101059"/>
                    <a:pt x="546848" y="101059"/>
                  </a:cubicBezTo>
                  <a:close/>
                  <a:moveTo>
                    <a:pt x="101288" y="80882"/>
                  </a:moveTo>
                  <a:cubicBezTo>
                    <a:pt x="95681" y="80882"/>
                    <a:pt x="91141" y="85415"/>
                    <a:pt x="91141" y="91015"/>
                  </a:cubicBezTo>
                  <a:cubicBezTo>
                    <a:pt x="91141" y="96526"/>
                    <a:pt x="95681" y="101059"/>
                    <a:pt x="101288" y="101059"/>
                  </a:cubicBezTo>
                  <a:lnTo>
                    <a:pt x="121492" y="101059"/>
                  </a:lnTo>
                  <a:cubicBezTo>
                    <a:pt x="127100" y="101059"/>
                    <a:pt x="131639" y="96526"/>
                    <a:pt x="131639" y="91015"/>
                  </a:cubicBezTo>
                  <a:cubicBezTo>
                    <a:pt x="131639" y="85415"/>
                    <a:pt x="127100" y="80882"/>
                    <a:pt x="121492" y="80882"/>
                  </a:cubicBezTo>
                  <a:close/>
                  <a:moveTo>
                    <a:pt x="60791" y="70750"/>
                  </a:moveTo>
                  <a:cubicBezTo>
                    <a:pt x="55183" y="70750"/>
                    <a:pt x="50644" y="75283"/>
                    <a:pt x="50644" y="80882"/>
                  </a:cubicBezTo>
                  <a:lnTo>
                    <a:pt x="50644" y="303354"/>
                  </a:lnTo>
                  <a:cubicBezTo>
                    <a:pt x="50644" y="308953"/>
                    <a:pt x="55183" y="313486"/>
                    <a:pt x="60791" y="313486"/>
                  </a:cubicBezTo>
                  <a:cubicBezTo>
                    <a:pt x="66309" y="313486"/>
                    <a:pt x="70848" y="308953"/>
                    <a:pt x="70848" y="303354"/>
                  </a:cubicBezTo>
                  <a:lnTo>
                    <a:pt x="70848" y="80882"/>
                  </a:lnTo>
                  <a:cubicBezTo>
                    <a:pt x="70848" y="75283"/>
                    <a:pt x="66309" y="70750"/>
                    <a:pt x="60791" y="70750"/>
                  </a:cubicBezTo>
                  <a:close/>
                  <a:moveTo>
                    <a:pt x="45571" y="0"/>
                  </a:moveTo>
                  <a:lnTo>
                    <a:pt x="562068" y="0"/>
                  </a:lnTo>
                  <a:cubicBezTo>
                    <a:pt x="587168" y="0"/>
                    <a:pt x="607639" y="20354"/>
                    <a:pt x="607639" y="45507"/>
                  </a:cubicBezTo>
                  <a:lnTo>
                    <a:pt x="607639" y="343795"/>
                  </a:lnTo>
                  <a:lnTo>
                    <a:pt x="0" y="343795"/>
                  </a:lnTo>
                  <a:lnTo>
                    <a:pt x="0" y="45507"/>
                  </a:lnTo>
                  <a:cubicBezTo>
                    <a:pt x="0" y="20354"/>
                    <a:pt x="20471" y="0"/>
                    <a:pt x="45571" y="0"/>
                  </a:cubicBezTo>
                  <a:close/>
                </a:path>
              </a:pathLst>
            </a:custGeom>
            <a:solidFill>
              <a:srgbClr val="6F8083"/>
            </a:solidFill>
            <a:ln>
              <a:noFill/>
            </a:ln>
          </p:spPr>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65280" y="204988"/>
            <a:ext cx="11661440" cy="6448024"/>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71525" y="619125"/>
            <a:ext cx="10972800" cy="8955405"/>
          </a:xfrm>
          <a:prstGeom prst="rect">
            <a:avLst/>
          </a:prstGeom>
          <a:noFill/>
        </p:spPr>
        <p:txBody>
          <a:bodyPr wrap="square" rtlCol="0">
            <a:spAutoFit/>
          </a:bodyPr>
          <a:p>
            <a:r>
              <a:rPr lang="ko-KR" altLang="en-US"/>
              <a:t>대규모</a:t>
            </a:r>
            <a:r>
              <a:rPr lang="en-US" altLang="zh-CN"/>
              <a:t> </a:t>
            </a:r>
            <a:r>
              <a:rPr lang="ko-KR" altLang="en-US"/>
              <a:t>모델</a:t>
            </a:r>
            <a:r>
              <a:rPr lang="en-US" altLang="zh-CN"/>
              <a:t> </a:t>
            </a:r>
            <a:r>
              <a:rPr lang="ko-KR" altLang="en-US"/>
              <a:t>기반의</a:t>
            </a:r>
            <a:r>
              <a:rPr lang="en-US" altLang="zh-CN"/>
              <a:t> </a:t>
            </a:r>
            <a:r>
              <a:rPr lang="ko-KR" altLang="en-US"/>
              <a:t>체화된</a:t>
            </a:r>
            <a:r>
              <a:rPr lang="en-US" altLang="zh-CN"/>
              <a:t> </a:t>
            </a:r>
            <a:r>
              <a:rPr lang="ko-KR" altLang="en-US"/>
              <a:t>지능형</a:t>
            </a:r>
            <a:r>
              <a:rPr lang="en-US" altLang="zh-CN"/>
              <a:t> </a:t>
            </a:r>
            <a:r>
              <a:rPr lang="ko-KR" altLang="en-US"/>
              <a:t>시스템</a:t>
            </a:r>
            <a:r>
              <a:rPr lang="en-US" altLang="zh-CN"/>
              <a:t> </a:t>
            </a:r>
            <a:r>
              <a:rPr lang="ko-KR" altLang="en-US"/>
              <a:t>연구</a:t>
            </a:r>
            <a:endParaRPr lang="ko-KR" altLang="en-US"/>
          </a:p>
          <a:p>
            <a:endParaRPr lang="ko-KR" altLang="en-US"/>
          </a:p>
          <a:p>
            <a:r>
              <a:rPr lang="ko-KR" altLang="en-US"/>
              <a:t>관련</a:t>
            </a:r>
            <a:r>
              <a:rPr lang="en-US" altLang="zh-CN"/>
              <a:t> </a:t>
            </a:r>
            <a:r>
              <a:rPr lang="ko-KR" altLang="en-US"/>
              <a:t>논문</a:t>
            </a:r>
            <a:r>
              <a:rPr lang="en-US" altLang="zh-CN"/>
              <a:t> 1</a:t>
            </a:r>
            <a:r>
              <a:rPr lang="ko-KR" altLang="en-US"/>
              <a:t>의</a:t>
            </a:r>
            <a:r>
              <a:rPr lang="en-US" altLang="zh-CN"/>
              <a:t> </a:t>
            </a:r>
            <a:r>
              <a:rPr lang="ko-KR" altLang="en-US"/>
              <a:t>주요</a:t>
            </a:r>
            <a:r>
              <a:rPr lang="en-US" altLang="zh-CN"/>
              <a:t> </a:t>
            </a:r>
            <a:r>
              <a:rPr lang="ko-KR" altLang="en-US"/>
              <a:t>개선</a:t>
            </a:r>
            <a:r>
              <a:rPr lang="en-US" altLang="zh-CN"/>
              <a:t> </a:t>
            </a:r>
            <a:r>
              <a:rPr lang="ko-KR" altLang="en-US"/>
              <a:t>사항</a:t>
            </a:r>
            <a:endParaRPr lang="ko-KR" altLang="en-US"/>
          </a:p>
          <a:p>
            <a:endParaRPr lang="zh-CN" altLang="en-US"/>
          </a:p>
          <a:p>
            <a:r>
              <a:rPr lang="en-US" altLang="ko-KR"/>
              <a:t>1</a:t>
            </a:r>
            <a:r>
              <a:rPr lang="zh-CN" altLang="en-US"/>
              <a:t>、</a:t>
            </a:r>
            <a:r>
              <a:rPr lang="ko-KR" altLang="en-US"/>
              <a:t>인지</a:t>
            </a:r>
            <a:r>
              <a:rPr lang="en-US" altLang="zh-CN"/>
              <a:t> </a:t>
            </a:r>
            <a:r>
              <a:rPr lang="ko-KR" altLang="en-US"/>
              <a:t>및</a:t>
            </a:r>
            <a:r>
              <a:rPr lang="en-US" altLang="zh-CN"/>
              <a:t> </a:t>
            </a:r>
            <a:r>
              <a:rPr lang="ko-KR" altLang="en-US"/>
              <a:t>이해</a:t>
            </a:r>
            <a:r>
              <a:rPr lang="en-US" altLang="zh-CN"/>
              <a:t>: </a:t>
            </a:r>
            <a:r>
              <a:rPr lang="ko-KR" altLang="en-US"/>
              <a:t>단일</a:t>
            </a:r>
            <a:r>
              <a:rPr lang="en-US" altLang="zh-CN"/>
              <a:t> </a:t>
            </a:r>
            <a:r>
              <a:rPr lang="ko-KR" altLang="en-US"/>
              <a:t>모달리티에서</a:t>
            </a:r>
            <a:r>
              <a:rPr lang="en-US" altLang="zh-CN"/>
              <a:t> </a:t>
            </a:r>
            <a:r>
              <a:rPr lang="ko-KR" altLang="en-US"/>
              <a:t>다중</a:t>
            </a:r>
            <a:r>
              <a:rPr lang="en-US" altLang="zh-CN"/>
              <a:t> </a:t>
            </a:r>
            <a:r>
              <a:rPr lang="ko-KR" altLang="en-US"/>
              <a:t>모달</a:t>
            </a:r>
            <a:r>
              <a:rPr lang="en-US" altLang="zh-CN"/>
              <a:t> </a:t>
            </a:r>
            <a:r>
              <a:rPr lang="ko-KR" altLang="en-US"/>
              <a:t>대규모</a:t>
            </a:r>
            <a:r>
              <a:rPr lang="en-US" altLang="zh-CN"/>
              <a:t> </a:t>
            </a:r>
            <a:r>
              <a:rPr lang="ko-KR" altLang="en-US"/>
              <a:t>모델</a:t>
            </a:r>
            <a:r>
              <a:rPr lang="en-US" altLang="zh-CN"/>
              <a:t>(</a:t>
            </a:r>
            <a:r>
              <a:rPr lang="ko-KR" altLang="en-US"/>
              <a:t>예</a:t>
            </a:r>
            <a:r>
              <a:rPr lang="en-US" altLang="zh-CN"/>
              <a:t>: CLIP, GPT 4V, 3D </a:t>
            </a:r>
            <a:r>
              <a:rPr lang="ko-KR" altLang="en-US"/>
              <a:t>가우시안</a:t>
            </a:r>
            <a:r>
              <a:rPr lang="en-US" altLang="zh-CN"/>
              <a:t> </a:t>
            </a:r>
            <a:r>
              <a:rPr lang="ko-KR" altLang="en-US"/>
              <a:t>스퍼터링</a:t>
            </a:r>
            <a:r>
              <a:rPr lang="en-US" altLang="zh-CN"/>
              <a:t>)</a:t>
            </a:r>
            <a:r>
              <a:rPr lang="ko-KR" altLang="en-US"/>
              <a:t>로</a:t>
            </a:r>
            <a:r>
              <a:rPr lang="en-US" altLang="zh-CN"/>
              <a:t> </a:t>
            </a:r>
            <a:r>
              <a:rPr lang="ko-KR" altLang="en-US"/>
              <a:t>확장하여</a:t>
            </a:r>
            <a:r>
              <a:rPr lang="en-US" altLang="zh-CN"/>
              <a:t> </a:t>
            </a:r>
            <a:r>
              <a:rPr lang="ko-KR" altLang="en-US"/>
              <a:t>시각</a:t>
            </a:r>
            <a:r>
              <a:rPr lang="en-US" altLang="zh-CN"/>
              <a:t>, </a:t>
            </a:r>
            <a:r>
              <a:rPr lang="ko-KR" altLang="en-US"/>
              <a:t>언어</a:t>
            </a:r>
            <a:r>
              <a:rPr lang="en-US" altLang="zh-CN"/>
              <a:t> </a:t>
            </a:r>
            <a:r>
              <a:rPr lang="ko-KR" altLang="en-US"/>
              <a:t>및</a:t>
            </a:r>
            <a:r>
              <a:rPr lang="en-US" altLang="zh-CN"/>
              <a:t> 3D </a:t>
            </a:r>
            <a:r>
              <a:rPr lang="ko-KR" altLang="en-US"/>
              <a:t>장면</a:t>
            </a:r>
            <a:r>
              <a:rPr lang="en-US" altLang="zh-CN"/>
              <a:t> </a:t>
            </a:r>
            <a:r>
              <a:rPr lang="ko-KR" altLang="en-US"/>
              <a:t>표현을</a:t>
            </a:r>
            <a:r>
              <a:rPr lang="en-US" altLang="zh-CN"/>
              <a:t> </a:t>
            </a:r>
            <a:r>
              <a:rPr lang="ko-KR" altLang="en-US"/>
              <a:t>통합합니다</a:t>
            </a:r>
            <a:r>
              <a:rPr lang="en-US" altLang="zh-CN"/>
              <a:t>. </a:t>
            </a:r>
            <a:r>
              <a:rPr lang="ko-KR" altLang="en-US"/>
              <a:t>사용성</a:t>
            </a:r>
            <a:r>
              <a:rPr lang="en-US" altLang="zh-CN"/>
              <a:t> </a:t>
            </a:r>
            <a:r>
              <a:rPr lang="ko-KR" altLang="en-US"/>
              <a:t>및</a:t>
            </a:r>
            <a:r>
              <a:rPr lang="en-US" altLang="zh-CN"/>
              <a:t> </a:t>
            </a:r>
            <a:r>
              <a:rPr lang="ko-KR" altLang="en-US"/>
              <a:t>제약</a:t>
            </a:r>
            <a:r>
              <a:rPr lang="en-US" altLang="zh-CN"/>
              <a:t> </a:t>
            </a:r>
            <a:r>
              <a:rPr lang="ko-KR" altLang="en-US"/>
              <a:t>조건</a:t>
            </a:r>
            <a:r>
              <a:rPr lang="en-US" altLang="zh-CN"/>
              <a:t> </a:t>
            </a:r>
            <a:r>
              <a:rPr lang="ko-KR" altLang="en-US"/>
              <a:t>모델링을</a:t>
            </a:r>
            <a:r>
              <a:rPr lang="en-US" altLang="zh-CN"/>
              <a:t> </a:t>
            </a:r>
            <a:r>
              <a:rPr lang="ko-KR" altLang="en-US"/>
              <a:t>도입하여</a:t>
            </a:r>
            <a:r>
              <a:rPr lang="en-US" altLang="zh-CN"/>
              <a:t> </a:t>
            </a:r>
            <a:r>
              <a:rPr lang="ko-KR" altLang="en-US"/>
              <a:t>복잡한</a:t>
            </a:r>
            <a:r>
              <a:rPr lang="en-US" altLang="zh-CN"/>
              <a:t> </a:t>
            </a:r>
            <a:r>
              <a:rPr lang="ko-KR" altLang="en-US"/>
              <a:t>환경에서</a:t>
            </a:r>
            <a:r>
              <a:rPr lang="en-US" altLang="zh-CN"/>
              <a:t> </a:t>
            </a:r>
            <a:r>
              <a:rPr lang="ko-KR" altLang="en-US"/>
              <a:t>의미</a:t>
            </a:r>
            <a:r>
              <a:rPr lang="en-US" altLang="zh-CN"/>
              <a:t> </a:t>
            </a:r>
            <a:r>
              <a:rPr lang="ko-KR" altLang="en-US"/>
              <a:t>이해</a:t>
            </a:r>
            <a:r>
              <a:rPr lang="en-US" altLang="zh-CN"/>
              <a:t> </a:t>
            </a:r>
            <a:r>
              <a:rPr lang="ko-KR" altLang="en-US"/>
              <a:t>및</a:t>
            </a:r>
            <a:r>
              <a:rPr lang="en-US" altLang="zh-CN"/>
              <a:t> </a:t>
            </a:r>
            <a:r>
              <a:rPr lang="ko-KR" altLang="en-US"/>
              <a:t>상호</a:t>
            </a:r>
            <a:r>
              <a:rPr lang="en-US" altLang="zh-CN"/>
              <a:t> </a:t>
            </a:r>
            <a:r>
              <a:rPr lang="ko-KR" altLang="en-US"/>
              <a:t>작용</a:t>
            </a:r>
            <a:r>
              <a:rPr lang="en-US" altLang="zh-CN"/>
              <a:t> </a:t>
            </a:r>
            <a:r>
              <a:rPr lang="ko-KR" altLang="en-US"/>
              <a:t>기능을</a:t>
            </a:r>
            <a:r>
              <a:rPr lang="en-US" altLang="zh-CN"/>
              <a:t> </a:t>
            </a:r>
            <a:r>
              <a:rPr lang="ko-KR" altLang="en-US"/>
              <a:t>향상시킵니다</a:t>
            </a:r>
            <a:r>
              <a:rPr lang="en-US" altLang="zh-CN"/>
              <a:t>.</a:t>
            </a:r>
            <a:endParaRPr lang="en-US" altLang="zh-CN"/>
          </a:p>
          <a:p>
            <a:endParaRPr lang="en-US" altLang="zh-CN"/>
          </a:p>
          <a:p>
            <a:r>
              <a:rPr lang="en-US" altLang="ko-KR"/>
              <a:t>2</a:t>
            </a:r>
            <a:r>
              <a:rPr lang="zh-CN" altLang="en-US"/>
              <a:t>、</a:t>
            </a:r>
            <a:r>
              <a:rPr lang="ko-KR" altLang="en-US"/>
              <a:t>제어</a:t>
            </a:r>
            <a:r>
              <a:rPr lang="en-US" altLang="zh-CN"/>
              <a:t> </a:t>
            </a:r>
            <a:r>
              <a:rPr lang="ko-KR" altLang="en-US"/>
              <a:t>계층</a:t>
            </a:r>
            <a:r>
              <a:rPr lang="en-US" altLang="zh-CN"/>
              <a:t>: </a:t>
            </a:r>
            <a:r>
              <a:rPr lang="ko-KR" altLang="en-US"/>
              <a:t>요구</a:t>
            </a:r>
            <a:r>
              <a:rPr lang="en-US" altLang="zh-CN"/>
              <a:t> </a:t>
            </a:r>
            <a:r>
              <a:rPr lang="ko-KR" altLang="en-US"/>
              <a:t>계층</a:t>
            </a:r>
            <a:r>
              <a:rPr lang="en-US" altLang="zh-CN"/>
              <a:t>, </a:t>
            </a:r>
            <a:r>
              <a:rPr lang="ko-KR" altLang="en-US"/>
              <a:t>작업</a:t>
            </a:r>
            <a:r>
              <a:rPr lang="en-US" altLang="zh-CN"/>
              <a:t> </a:t>
            </a:r>
            <a:r>
              <a:rPr lang="ko-KR" altLang="en-US"/>
              <a:t>계층</a:t>
            </a:r>
            <a:r>
              <a:rPr lang="en-US" altLang="zh-CN"/>
              <a:t>, </a:t>
            </a:r>
            <a:r>
              <a:rPr lang="ko-KR" altLang="en-US"/>
              <a:t>계획</a:t>
            </a:r>
            <a:r>
              <a:rPr lang="en-US" altLang="zh-CN"/>
              <a:t> </a:t>
            </a:r>
            <a:r>
              <a:rPr lang="ko-KR" altLang="en-US"/>
              <a:t>계층</a:t>
            </a:r>
            <a:r>
              <a:rPr lang="en-US" altLang="zh-CN"/>
              <a:t> </a:t>
            </a:r>
            <a:r>
              <a:rPr lang="ko-KR" altLang="en-US"/>
              <a:t>및</a:t>
            </a:r>
            <a:r>
              <a:rPr lang="en-US" altLang="zh-CN"/>
              <a:t> </a:t>
            </a:r>
            <a:r>
              <a:rPr lang="ko-KR" altLang="en-US"/>
              <a:t>실행</a:t>
            </a:r>
            <a:r>
              <a:rPr lang="en-US" altLang="zh-CN"/>
              <a:t> </a:t>
            </a:r>
            <a:r>
              <a:rPr lang="ko-KR" altLang="en-US"/>
              <a:t>계층으로</a:t>
            </a:r>
            <a:r>
              <a:rPr lang="en-US" altLang="zh-CN"/>
              <a:t> </a:t>
            </a:r>
            <a:r>
              <a:rPr lang="ko-KR" altLang="en-US"/>
              <a:t>구성된</a:t>
            </a:r>
            <a:r>
              <a:rPr lang="en-US" altLang="zh-CN"/>
              <a:t> 4</a:t>
            </a:r>
            <a:r>
              <a:rPr lang="ko-KR" altLang="en-US"/>
              <a:t>계층</a:t>
            </a:r>
            <a:r>
              <a:rPr lang="en-US" altLang="zh-CN"/>
              <a:t> </a:t>
            </a:r>
            <a:r>
              <a:rPr lang="ko-KR" altLang="en-US"/>
              <a:t>제어</a:t>
            </a:r>
            <a:r>
              <a:rPr lang="en-US" altLang="zh-CN"/>
              <a:t> </a:t>
            </a:r>
            <a:r>
              <a:rPr lang="ko-KR" altLang="en-US"/>
              <a:t>아키텍처를</a:t>
            </a:r>
            <a:r>
              <a:rPr lang="en-US" altLang="zh-CN"/>
              <a:t> </a:t>
            </a:r>
            <a:r>
              <a:rPr lang="ko-KR" altLang="en-US"/>
              <a:t>구축합니다</a:t>
            </a:r>
            <a:r>
              <a:rPr lang="en-US" altLang="zh-CN"/>
              <a:t>. </a:t>
            </a:r>
            <a:r>
              <a:rPr lang="ko-KR" altLang="en-US"/>
              <a:t>이</a:t>
            </a:r>
            <a:r>
              <a:rPr lang="en-US" altLang="zh-CN"/>
              <a:t> </a:t>
            </a:r>
            <a:r>
              <a:rPr lang="ko-KR" altLang="en-US"/>
              <a:t>아키텍처를</a:t>
            </a:r>
            <a:r>
              <a:rPr lang="en-US" altLang="zh-CN"/>
              <a:t> </a:t>
            </a:r>
            <a:r>
              <a:rPr lang="ko-KR" altLang="en-US"/>
              <a:t>통해</a:t>
            </a:r>
            <a:r>
              <a:rPr lang="en-US" altLang="zh-CN"/>
              <a:t> </a:t>
            </a:r>
            <a:r>
              <a:rPr lang="ko-KR" altLang="en-US"/>
              <a:t>대규모</a:t>
            </a:r>
            <a:r>
              <a:rPr lang="en-US" altLang="zh-CN"/>
              <a:t> </a:t>
            </a:r>
            <a:r>
              <a:rPr lang="ko-KR" altLang="en-US"/>
              <a:t>모델은</a:t>
            </a:r>
            <a:r>
              <a:rPr lang="en-US" altLang="zh-CN"/>
              <a:t> </a:t>
            </a:r>
            <a:r>
              <a:rPr lang="ko-KR" altLang="en-US"/>
              <a:t>작업을</a:t>
            </a:r>
            <a:r>
              <a:rPr lang="en-US" altLang="zh-CN"/>
              <a:t> </a:t>
            </a:r>
            <a:r>
              <a:rPr lang="ko-KR" altLang="en-US"/>
              <a:t>분해하고</a:t>
            </a:r>
            <a:r>
              <a:rPr lang="en-US" altLang="zh-CN"/>
              <a:t> </a:t>
            </a:r>
            <a:r>
              <a:rPr lang="ko-KR" altLang="en-US"/>
              <a:t>행동을</a:t>
            </a:r>
            <a:r>
              <a:rPr lang="en-US" altLang="zh-CN"/>
              <a:t> </a:t>
            </a:r>
            <a:r>
              <a:rPr lang="ko-KR" altLang="en-US"/>
              <a:t>생성할</a:t>
            </a:r>
            <a:r>
              <a:rPr lang="en-US" altLang="zh-CN"/>
              <a:t> </a:t>
            </a:r>
            <a:r>
              <a:rPr lang="ko-KR" altLang="en-US"/>
              <a:t>뿐만</a:t>
            </a:r>
            <a:r>
              <a:rPr lang="en-US" altLang="zh-CN"/>
              <a:t> </a:t>
            </a:r>
            <a:r>
              <a:rPr lang="ko-KR" altLang="en-US"/>
              <a:t>아니라</a:t>
            </a:r>
            <a:r>
              <a:rPr lang="en-US" altLang="zh-CN"/>
              <a:t> </a:t>
            </a:r>
            <a:r>
              <a:rPr lang="ko-KR" altLang="en-US"/>
              <a:t>사용자의</a:t>
            </a:r>
            <a:r>
              <a:rPr lang="en-US" altLang="zh-CN"/>
              <a:t> </a:t>
            </a:r>
            <a:r>
              <a:rPr lang="ko-KR" altLang="en-US"/>
              <a:t>의도를</a:t>
            </a:r>
            <a:r>
              <a:rPr lang="en-US" altLang="zh-CN"/>
              <a:t> </a:t>
            </a:r>
            <a:r>
              <a:rPr lang="ko-KR" altLang="en-US"/>
              <a:t>이해하고</a:t>
            </a:r>
            <a:r>
              <a:rPr lang="en-US" altLang="zh-CN"/>
              <a:t> </a:t>
            </a:r>
            <a:r>
              <a:rPr lang="ko-KR" altLang="en-US"/>
              <a:t>동적</a:t>
            </a:r>
            <a:r>
              <a:rPr lang="en-US" altLang="zh-CN"/>
              <a:t> </a:t>
            </a:r>
            <a:r>
              <a:rPr lang="ko-KR" altLang="en-US"/>
              <a:t>폐루프</a:t>
            </a:r>
            <a:r>
              <a:rPr lang="en-US" altLang="zh-CN"/>
              <a:t> </a:t>
            </a:r>
            <a:r>
              <a:rPr lang="ko-KR" altLang="en-US"/>
              <a:t>계획을</a:t>
            </a:r>
            <a:r>
              <a:rPr lang="en-US" altLang="zh-CN"/>
              <a:t> </a:t>
            </a:r>
            <a:r>
              <a:rPr lang="ko-KR" altLang="en-US"/>
              <a:t>실행하여</a:t>
            </a:r>
            <a:r>
              <a:rPr lang="en-US" altLang="zh-CN"/>
              <a:t> </a:t>
            </a:r>
            <a:r>
              <a:rPr lang="ko-KR" altLang="en-US"/>
              <a:t>저수준</a:t>
            </a:r>
            <a:r>
              <a:rPr lang="en-US" altLang="zh-CN"/>
              <a:t> </a:t>
            </a:r>
            <a:r>
              <a:rPr lang="ko-KR" altLang="en-US"/>
              <a:t>명령만</a:t>
            </a:r>
            <a:r>
              <a:rPr lang="en-US" altLang="zh-CN"/>
              <a:t> </a:t>
            </a:r>
            <a:r>
              <a:rPr lang="ko-KR" altLang="en-US"/>
              <a:t>실행할</a:t>
            </a:r>
            <a:r>
              <a:rPr lang="en-US" altLang="zh-CN"/>
              <a:t> </a:t>
            </a:r>
            <a:r>
              <a:rPr lang="ko-KR" altLang="en-US"/>
              <a:t>수</a:t>
            </a:r>
            <a:r>
              <a:rPr lang="en-US" altLang="zh-CN"/>
              <a:t> </a:t>
            </a:r>
            <a:r>
              <a:rPr lang="ko-KR" altLang="en-US"/>
              <a:t>있는</a:t>
            </a:r>
            <a:r>
              <a:rPr lang="en-US" altLang="zh-CN"/>
              <a:t> </a:t>
            </a:r>
            <a:r>
              <a:rPr lang="ko-KR" altLang="en-US"/>
              <a:t>기존</a:t>
            </a:r>
            <a:r>
              <a:rPr lang="en-US" altLang="zh-CN"/>
              <a:t> </a:t>
            </a:r>
            <a:r>
              <a:rPr lang="ko-KR" altLang="en-US"/>
              <a:t>로봇의</a:t>
            </a:r>
            <a:r>
              <a:rPr lang="en-US" altLang="zh-CN"/>
              <a:t> </a:t>
            </a:r>
            <a:r>
              <a:rPr lang="ko-KR" altLang="en-US"/>
              <a:t>한계를</a:t>
            </a:r>
            <a:r>
              <a:rPr lang="en-US" altLang="zh-CN"/>
              <a:t> </a:t>
            </a:r>
            <a:r>
              <a:rPr lang="ko-KR" altLang="en-US"/>
              <a:t>극복합니다</a:t>
            </a:r>
            <a:r>
              <a:rPr lang="en-US" altLang="zh-CN"/>
              <a:t>.</a:t>
            </a:r>
            <a:endParaRPr lang="en-US" altLang="zh-CN"/>
          </a:p>
          <a:p>
            <a:endParaRPr lang="en-US" altLang="zh-CN"/>
          </a:p>
          <a:p>
            <a:r>
              <a:rPr lang="en-US" altLang="ko-KR"/>
              <a:t>3</a:t>
            </a:r>
            <a:r>
              <a:rPr lang="zh-CN" altLang="en-US"/>
              <a:t>、</a:t>
            </a:r>
            <a:r>
              <a:rPr lang="ko-KR" altLang="en-US"/>
              <a:t>데이터</a:t>
            </a:r>
            <a:r>
              <a:rPr lang="en-US" altLang="zh-CN"/>
              <a:t> </a:t>
            </a:r>
            <a:r>
              <a:rPr lang="ko-KR" altLang="en-US"/>
              <a:t>소스</a:t>
            </a:r>
            <a:r>
              <a:rPr lang="en-US" altLang="zh-CN"/>
              <a:t>: </a:t>
            </a:r>
            <a:r>
              <a:rPr lang="ko-KR" altLang="en-US"/>
              <a:t>제한적인</a:t>
            </a:r>
            <a:r>
              <a:rPr lang="en-US" altLang="zh-CN"/>
              <a:t> </a:t>
            </a:r>
            <a:r>
              <a:rPr lang="ko-KR" altLang="en-US"/>
              <a:t>시뮬레이터에서</a:t>
            </a:r>
            <a:r>
              <a:rPr lang="en-US" altLang="zh-CN"/>
              <a:t> </a:t>
            </a:r>
            <a:r>
              <a:rPr lang="ko-KR" altLang="en-US"/>
              <a:t>모방</a:t>
            </a:r>
            <a:r>
              <a:rPr lang="en-US" altLang="zh-CN"/>
              <a:t> </a:t>
            </a:r>
            <a:r>
              <a:rPr lang="ko-KR" altLang="en-US"/>
              <a:t>학습</a:t>
            </a:r>
            <a:r>
              <a:rPr lang="en-US" altLang="zh-CN"/>
              <a:t> </a:t>
            </a:r>
            <a:r>
              <a:rPr lang="ko-KR" altLang="en-US"/>
              <a:t>및</a:t>
            </a:r>
            <a:r>
              <a:rPr lang="en-US" altLang="zh-CN"/>
              <a:t> </a:t>
            </a:r>
            <a:r>
              <a:rPr lang="ko-KR" altLang="en-US"/>
              <a:t>인터넷</a:t>
            </a:r>
            <a:r>
              <a:rPr lang="en-US" altLang="zh-CN"/>
              <a:t> </a:t>
            </a:r>
            <a:r>
              <a:rPr lang="ko-KR" altLang="en-US"/>
              <a:t>비디오로</a:t>
            </a:r>
            <a:r>
              <a:rPr lang="en-US" altLang="zh-CN"/>
              <a:t> </a:t>
            </a:r>
            <a:r>
              <a:rPr lang="ko-KR" altLang="en-US"/>
              <a:t>데이터</a:t>
            </a:r>
            <a:r>
              <a:rPr lang="en-US" altLang="zh-CN"/>
              <a:t> </a:t>
            </a:r>
            <a:r>
              <a:rPr lang="ko-KR" altLang="en-US"/>
              <a:t>수집</a:t>
            </a:r>
            <a:r>
              <a:rPr lang="en-US" altLang="zh-CN"/>
              <a:t> </a:t>
            </a:r>
            <a:r>
              <a:rPr lang="ko-KR" altLang="en-US"/>
              <a:t>범위를</a:t>
            </a:r>
            <a:r>
              <a:rPr lang="en-US" altLang="zh-CN"/>
              <a:t> </a:t>
            </a:r>
            <a:r>
              <a:rPr lang="ko-KR" altLang="en-US"/>
              <a:t>확장합니다</a:t>
            </a:r>
            <a:r>
              <a:rPr lang="en-US" altLang="zh-CN"/>
              <a:t>. </a:t>
            </a:r>
            <a:r>
              <a:rPr lang="ko-KR" altLang="en-US"/>
              <a:t>본</a:t>
            </a:r>
            <a:r>
              <a:rPr lang="en-US" altLang="zh-CN"/>
              <a:t> </a:t>
            </a:r>
            <a:r>
              <a:rPr lang="ko-KR" altLang="en-US"/>
              <a:t>연구에서는</a:t>
            </a:r>
            <a:r>
              <a:rPr lang="en-US" altLang="zh-CN"/>
              <a:t> RoboGen, ALOHA, VRB</a:t>
            </a:r>
            <a:r>
              <a:rPr lang="ko-KR" altLang="en-US"/>
              <a:t>와</a:t>
            </a:r>
            <a:r>
              <a:rPr lang="en-US" altLang="zh-CN"/>
              <a:t> </a:t>
            </a:r>
            <a:r>
              <a:rPr lang="ko-KR" altLang="en-US"/>
              <a:t>같은</a:t>
            </a:r>
            <a:r>
              <a:rPr lang="en-US" altLang="zh-CN"/>
              <a:t> </a:t>
            </a:r>
            <a:r>
              <a:rPr lang="ko-KR" altLang="en-US"/>
              <a:t>방법을</a:t>
            </a:r>
            <a:r>
              <a:rPr lang="en-US" altLang="zh-CN"/>
              <a:t> </a:t>
            </a:r>
            <a:r>
              <a:rPr lang="ko-KR" altLang="en-US"/>
              <a:t>활용하여</a:t>
            </a:r>
            <a:r>
              <a:rPr lang="en-US" altLang="zh-CN"/>
              <a:t> </a:t>
            </a:r>
            <a:r>
              <a:rPr lang="ko-KR" altLang="en-US"/>
              <a:t>다양한</a:t>
            </a:r>
            <a:r>
              <a:rPr lang="en-US" altLang="zh-CN"/>
              <a:t> </a:t>
            </a:r>
            <a:r>
              <a:rPr lang="ko-KR" altLang="en-US"/>
              <a:t>훈련</a:t>
            </a:r>
            <a:r>
              <a:rPr lang="en-US" altLang="zh-CN"/>
              <a:t> </a:t>
            </a:r>
            <a:r>
              <a:rPr lang="ko-KR" altLang="en-US"/>
              <a:t>데이터를</a:t>
            </a:r>
            <a:r>
              <a:rPr lang="en-US" altLang="zh-CN"/>
              <a:t> </a:t>
            </a:r>
            <a:r>
              <a:rPr lang="ko-KR" altLang="en-US"/>
              <a:t>자동으로</a:t>
            </a:r>
            <a:r>
              <a:rPr lang="en-US" altLang="zh-CN"/>
              <a:t> </a:t>
            </a:r>
            <a:r>
              <a:rPr lang="ko-KR" altLang="en-US"/>
              <a:t>생성하거나</a:t>
            </a:r>
            <a:r>
              <a:rPr lang="en-US" altLang="zh-CN"/>
              <a:t> </a:t>
            </a:r>
            <a:r>
              <a:rPr lang="ko-KR" altLang="en-US"/>
              <a:t>추출하고</a:t>
            </a:r>
            <a:r>
              <a:rPr lang="en-US" altLang="zh-CN"/>
              <a:t>, Sim2Real </a:t>
            </a:r>
            <a:r>
              <a:rPr lang="ko-KR" altLang="en-US"/>
              <a:t>기법</a:t>
            </a:r>
            <a:r>
              <a:rPr lang="en-US" altLang="zh-CN"/>
              <a:t>(</a:t>
            </a:r>
            <a:r>
              <a:rPr lang="ko-KR" altLang="en-US"/>
              <a:t>예</a:t>
            </a:r>
            <a:r>
              <a:rPr lang="en-US" altLang="zh-CN"/>
              <a:t>: DrEureka)</a:t>
            </a:r>
            <a:r>
              <a:rPr lang="ko-KR" altLang="en-US"/>
              <a:t>을</a:t>
            </a:r>
            <a:r>
              <a:rPr lang="en-US" altLang="zh-CN"/>
              <a:t> </a:t>
            </a:r>
            <a:r>
              <a:rPr lang="ko-KR" altLang="en-US"/>
              <a:t>결합하여</a:t>
            </a:r>
            <a:r>
              <a:rPr lang="en-US" altLang="zh-CN"/>
              <a:t> </a:t>
            </a:r>
            <a:r>
              <a:rPr lang="ko-KR" altLang="en-US"/>
              <a:t>시뮬레이션에서</a:t>
            </a:r>
            <a:r>
              <a:rPr lang="en-US" altLang="zh-CN"/>
              <a:t> </a:t>
            </a:r>
            <a:r>
              <a:rPr lang="ko-KR" altLang="en-US"/>
              <a:t>현실</a:t>
            </a:r>
            <a:r>
              <a:rPr lang="en-US" altLang="zh-CN"/>
              <a:t> </a:t>
            </a:r>
            <a:r>
              <a:rPr lang="ko-KR" altLang="en-US"/>
              <a:t>세계로의</a:t>
            </a:r>
            <a:r>
              <a:rPr lang="en-US" altLang="zh-CN"/>
              <a:t> </a:t>
            </a:r>
            <a:r>
              <a:rPr lang="ko-KR" altLang="en-US"/>
              <a:t>전이</a:t>
            </a:r>
            <a:r>
              <a:rPr lang="en-US" altLang="zh-CN"/>
              <a:t> </a:t>
            </a:r>
            <a:r>
              <a:rPr lang="ko-KR" altLang="en-US"/>
              <a:t>능력을</a:t>
            </a:r>
            <a:r>
              <a:rPr lang="en-US" altLang="zh-CN"/>
              <a:t> </a:t>
            </a:r>
            <a:r>
              <a:rPr lang="ko-KR" altLang="en-US"/>
              <a:t>향상시킵니다</a:t>
            </a:r>
            <a:r>
              <a:rPr lang="en-US" altLang="zh-CN"/>
              <a:t>.</a:t>
            </a:r>
            <a:endParaRPr lang="en-US" altLang="zh-CN"/>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65280" y="204988"/>
            <a:ext cx="11661440" cy="6448024"/>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571500" y="485775"/>
            <a:ext cx="10725150" cy="9786620"/>
          </a:xfrm>
          <a:prstGeom prst="rect">
            <a:avLst/>
          </a:prstGeom>
          <a:noFill/>
        </p:spPr>
        <p:txBody>
          <a:bodyPr wrap="square" rtlCol="0">
            <a:spAutoFit/>
          </a:bodyPr>
          <a:p>
            <a:r>
              <a:rPr lang="ko-KR" altLang="en-US"/>
              <a:t>자연어</a:t>
            </a:r>
            <a:r>
              <a:rPr lang="en-US" altLang="zh-CN"/>
              <a:t> </a:t>
            </a:r>
            <a:r>
              <a:rPr lang="ko-KR" altLang="en-US"/>
              <a:t>처리</a:t>
            </a:r>
            <a:r>
              <a:rPr lang="en-US" altLang="zh-CN"/>
              <a:t> </a:t>
            </a:r>
            <a:r>
              <a:rPr lang="ko-KR" altLang="en-US"/>
              <a:t>분야에서</a:t>
            </a:r>
            <a:r>
              <a:rPr lang="en-US" altLang="zh-CN"/>
              <a:t> </a:t>
            </a:r>
            <a:r>
              <a:rPr lang="ko-KR" altLang="en-US"/>
              <a:t>생성형</a:t>
            </a:r>
            <a:r>
              <a:rPr lang="en-US" altLang="zh-CN"/>
              <a:t> </a:t>
            </a:r>
            <a:r>
              <a:rPr lang="ko-KR" altLang="en-US"/>
              <a:t>인공지능</a:t>
            </a:r>
            <a:r>
              <a:rPr lang="en-US" altLang="zh-CN"/>
              <a:t> </a:t>
            </a:r>
            <a:r>
              <a:rPr lang="ko-KR" altLang="en-US"/>
              <a:t>응용</a:t>
            </a:r>
            <a:r>
              <a:rPr lang="en-US" altLang="zh-CN"/>
              <a:t> </a:t>
            </a:r>
            <a:r>
              <a:rPr lang="ko-KR" altLang="en-US"/>
              <a:t>사례</a:t>
            </a:r>
            <a:r>
              <a:rPr lang="en-US" altLang="zh-CN"/>
              <a:t> </a:t>
            </a:r>
            <a:r>
              <a:rPr lang="ko-KR" altLang="en-US"/>
              <a:t>검토</a:t>
            </a:r>
            <a:endParaRPr lang="ko-KR" altLang="en-US"/>
          </a:p>
          <a:p>
            <a:endParaRPr lang="zh-CN" altLang="en-US"/>
          </a:p>
          <a:p>
            <a:r>
              <a:rPr lang="ko-KR" altLang="en-US"/>
              <a:t>관련</a:t>
            </a:r>
            <a:r>
              <a:rPr lang="en-US" altLang="zh-CN"/>
              <a:t> </a:t>
            </a:r>
            <a:r>
              <a:rPr lang="ko-KR" altLang="en-US"/>
              <a:t>논문</a:t>
            </a:r>
            <a:r>
              <a:rPr lang="en-US" altLang="zh-CN"/>
              <a:t> 2</a:t>
            </a:r>
            <a:r>
              <a:rPr lang="ko-KR" altLang="en-US"/>
              <a:t>의</a:t>
            </a:r>
            <a:r>
              <a:rPr lang="en-US" altLang="zh-CN"/>
              <a:t> </a:t>
            </a:r>
            <a:r>
              <a:rPr lang="ko-KR" altLang="en-US"/>
              <a:t>주요</a:t>
            </a:r>
            <a:r>
              <a:rPr lang="en-US" altLang="zh-CN"/>
              <a:t> </a:t>
            </a:r>
            <a:r>
              <a:rPr lang="ko-KR" altLang="en-US"/>
              <a:t>개선</a:t>
            </a:r>
            <a:r>
              <a:rPr lang="en-US" altLang="zh-CN"/>
              <a:t> </a:t>
            </a:r>
            <a:r>
              <a:rPr lang="ko-KR" altLang="en-US"/>
              <a:t>사항</a:t>
            </a:r>
            <a:endParaRPr lang="ko-KR" altLang="en-US"/>
          </a:p>
          <a:p>
            <a:endParaRPr lang="zh-CN" altLang="en-US"/>
          </a:p>
          <a:p>
            <a:r>
              <a:rPr lang="en-US" altLang="ko-KR"/>
              <a:t>1</a:t>
            </a:r>
            <a:r>
              <a:rPr lang="zh-CN" altLang="en-US"/>
              <a:t>、</a:t>
            </a:r>
            <a:r>
              <a:rPr lang="ko-KR" altLang="en-US"/>
              <a:t>모델</a:t>
            </a:r>
            <a:r>
              <a:rPr lang="en-US" altLang="zh-CN"/>
              <a:t> </a:t>
            </a:r>
            <a:r>
              <a:rPr lang="ko-KR" altLang="en-US"/>
              <a:t>아키텍처의</a:t>
            </a:r>
            <a:r>
              <a:rPr lang="en-US" altLang="zh-CN"/>
              <a:t> </a:t>
            </a:r>
            <a:r>
              <a:rPr lang="ko-KR" altLang="en-US"/>
              <a:t>지속적인</a:t>
            </a:r>
            <a:r>
              <a:rPr lang="en-US" altLang="zh-CN"/>
              <a:t> </a:t>
            </a:r>
            <a:r>
              <a:rPr lang="ko-KR" altLang="en-US"/>
              <a:t>최적화</a:t>
            </a:r>
            <a:endParaRPr lang="en-US" altLang="zh-CN"/>
          </a:p>
          <a:p>
            <a:r>
              <a:rPr lang="ko-KR" altLang="en-US"/>
              <a:t>기존의</a:t>
            </a:r>
            <a:r>
              <a:rPr lang="en-US" altLang="zh-CN"/>
              <a:t> RNN/LSTM</a:t>
            </a:r>
            <a:r>
              <a:rPr lang="ko-KR" altLang="en-US"/>
              <a:t>부터</a:t>
            </a:r>
            <a:r>
              <a:rPr lang="en-US" altLang="zh-CN"/>
              <a:t> Transformer, </a:t>
            </a:r>
            <a:r>
              <a:rPr lang="ko-KR" altLang="en-US"/>
              <a:t>그리고</a:t>
            </a:r>
            <a:r>
              <a:rPr lang="en-US" altLang="zh-CN"/>
              <a:t> </a:t>
            </a:r>
            <a:r>
              <a:rPr lang="ko-KR" altLang="en-US"/>
              <a:t>최근의</a:t>
            </a:r>
            <a:r>
              <a:rPr lang="en-US" altLang="zh-CN"/>
              <a:t> xLSTM </a:t>
            </a:r>
            <a:r>
              <a:rPr lang="ko-KR" altLang="en-US"/>
              <a:t>및</a:t>
            </a:r>
            <a:r>
              <a:rPr lang="en-US" altLang="zh-CN"/>
              <a:t> Diffusion </a:t>
            </a:r>
            <a:r>
              <a:rPr lang="ko-KR" altLang="en-US"/>
              <a:t>모델에</a:t>
            </a:r>
            <a:r>
              <a:rPr lang="en-US" altLang="zh-CN"/>
              <a:t> </a:t>
            </a:r>
            <a:r>
              <a:rPr lang="ko-KR" altLang="en-US"/>
              <a:t>이르기까지</a:t>
            </a:r>
            <a:r>
              <a:rPr lang="en-US" altLang="zh-CN"/>
              <a:t>, </a:t>
            </a:r>
            <a:r>
              <a:rPr lang="ko-KR" altLang="en-US"/>
              <a:t>모델은</a:t>
            </a:r>
            <a:r>
              <a:rPr lang="en-US" altLang="zh-CN"/>
              <a:t> </a:t>
            </a:r>
            <a:r>
              <a:rPr lang="ko-KR" altLang="en-US"/>
              <a:t>장거리</a:t>
            </a:r>
            <a:r>
              <a:rPr lang="en-US" altLang="zh-CN"/>
              <a:t> </a:t>
            </a:r>
            <a:r>
              <a:rPr lang="ko-KR" altLang="en-US"/>
              <a:t>의존성</a:t>
            </a:r>
            <a:r>
              <a:rPr lang="en-US" altLang="zh-CN"/>
              <a:t> </a:t>
            </a:r>
            <a:r>
              <a:rPr lang="ko-KR" altLang="en-US"/>
              <a:t>모델링</a:t>
            </a:r>
            <a:r>
              <a:rPr lang="en-US" altLang="zh-CN"/>
              <a:t>, </a:t>
            </a:r>
            <a:r>
              <a:rPr lang="ko-KR" altLang="en-US"/>
              <a:t>병렬</a:t>
            </a:r>
            <a:r>
              <a:rPr lang="en-US" altLang="zh-CN"/>
              <a:t> </a:t>
            </a:r>
            <a:r>
              <a:rPr lang="ko-KR" altLang="en-US"/>
              <a:t>연산</a:t>
            </a:r>
            <a:r>
              <a:rPr lang="en-US" altLang="zh-CN"/>
              <a:t> </a:t>
            </a:r>
            <a:r>
              <a:rPr lang="ko-KR" altLang="en-US"/>
              <a:t>효율성</a:t>
            </a:r>
            <a:r>
              <a:rPr lang="en-US" altLang="zh-CN"/>
              <a:t>, </a:t>
            </a:r>
            <a:r>
              <a:rPr lang="ko-KR" altLang="en-US"/>
              <a:t>생성</a:t>
            </a:r>
            <a:r>
              <a:rPr lang="en-US" altLang="zh-CN"/>
              <a:t> </a:t>
            </a:r>
            <a:r>
              <a:rPr lang="ko-KR" altLang="en-US"/>
              <a:t>품질</a:t>
            </a:r>
            <a:r>
              <a:rPr lang="en-US" altLang="zh-CN"/>
              <a:t> </a:t>
            </a:r>
            <a:r>
              <a:rPr lang="ko-KR" altLang="en-US"/>
              <a:t>및</a:t>
            </a:r>
            <a:r>
              <a:rPr lang="en-US" altLang="zh-CN"/>
              <a:t> </a:t>
            </a:r>
            <a:r>
              <a:rPr lang="ko-KR" altLang="en-US"/>
              <a:t>다양성</a:t>
            </a:r>
            <a:r>
              <a:rPr lang="en-US" altLang="zh-CN"/>
              <a:t> </a:t>
            </a:r>
            <a:r>
              <a:rPr lang="ko-KR" altLang="en-US"/>
              <a:t>측면에서</a:t>
            </a:r>
            <a:r>
              <a:rPr lang="en-US" altLang="zh-CN"/>
              <a:t> </a:t>
            </a:r>
            <a:r>
              <a:rPr lang="ko-KR" altLang="en-US"/>
              <a:t>지속적인</a:t>
            </a:r>
            <a:r>
              <a:rPr lang="en-US" altLang="zh-CN"/>
              <a:t> </a:t>
            </a:r>
            <a:r>
              <a:rPr lang="ko-KR" altLang="en-US"/>
              <a:t>개선을</a:t>
            </a:r>
            <a:r>
              <a:rPr lang="en-US" altLang="zh-CN"/>
              <a:t> </a:t>
            </a:r>
            <a:r>
              <a:rPr lang="ko-KR" altLang="en-US"/>
              <a:t>보여왔습니다</a:t>
            </a:r>
            <a:r>
              <a:rPr lang="en-US" altLang="zh-CN"/>
              <a:t>. </a:t>
            </a:r>
            <a:r>
              <a:rPr lang="ko-KR" altLang="en-US"/>
              <a:t>예를</a:t>
            </a:r>
            <a:r>
              <a:rPr lang="en-US" altLang="zh-CN"/>
              <a:t> </a:t>
            </a:r>
            <a:r>
              <a:rPr lang="ko-KR" altLang="en-US"/>
              <a:t>들어</a:t>
            </a:r>
            <a:r>
              <a:rPr lang="en-US" altLang="zh-CN"/>
              <a:t>, xLSTM</a:t>
            </a:r>
            <a:r>
              <a:rPr lang="ko-KR" altLang="en-US"/>
              <a:t>은</a:t>
            </a:r>
            <a:r>
              <a:rPr lang="en-US" altLang="zh-CN"/>
              <a:t> </a:t>
            </a:r>
            <a:r>
              <a:rPr lang="ko-KR" altLang="en-US"/>
              <a:t>게이팅</a:t>
            </a:r>
            <a:r>
              <a:rPr lang="en-US" altLang="zh-CN"/>
              <a:t> </a:t>
            </a:r>
            <a:r>
              <a:rPr lang="ko-KR" altLang="en-US"/>
              <a:t>정책과</a:t>
            </a:r>
            <a:r>
              <a:rPr lang="en-US" altLang="zh-CN"/>
              <a:t> </a:t>
            </a:r>
            <a:r>
              <a:rPr lang="ko-KR" altLang="en-US"/>
              <a:t>잔차</a:t>
            </a:r>
            <a:r>
              <a:rPr lang="en-US" altLang="zh-CN"/>
              <a:t> </a:t>
            </a:r>
            <a:r>
              <a:rPr lang="ko-KR" altLang="en-US"/>
              <a:t>구조</a:t>
            </a:r>
            <a:r>
              <a:rPr lang="en-US" altLang="zh-CN"/>
              <a:t> </a:t>
            </a:r>
            <a:r>
              <a:rPr lang="ko-KR" altLang="en-US"/>
              <a:t>최적화를</a:t>
            </a:r>
            <a:r>
              <a:rPr lang="en-US" altLang="zh-CN"/>
              <a:t> </a:t>
            </a:r>
            <a:r>
              <a:rPr lang="ko-KR" altLang="en-US"/>
              <a:t>통해</a:t>
            </a:r>
            <a:r>
              <a:rPr lang="en-US" altLang="zh-CN"/>
              <a:t> </a:t>
            </a:r>
            <a:r>
              <a:rPr lang="ko-KR" altLang="en-US"/>
              <a:t>대규모</a:t>
            </a:r>
            <a:r>
              <a:rPr lang="en-US" altLang="zh-CN"/>
              <a:t> </a:t>
            </a:r>
            <a:r>
              <a:rPr lang="ko-KR" altLang="en-US"/>
              <a:t>학습</a:t>
            </a:r>
            <a:r>
              <a:rPr lang="en-US" altLang="zh-CN"/>
              <a:t> </a:t>
            </a:r>
            <a:r>
              <a:rPr lang="ko-KR" altLang="en-US"/>
              <a:t>능력을</a:t>
            </a:r>
            <a:r>
              <a:rPr lang="en-US" altLang="zh-CN"/>
              <a:t> </a:t>
            </a:r>
            <a:r>
              <a:rPr lang="ko-KR" altLang="en-US"/>
              <a:t>향상시키고</a:t>
            </a:r>
            <a:r>
              <a:rPr lang="en-US" altLang="zh-CN"/>
              <a:t>, Diffusion </a:t>
            </a:r>
            <a:r>
              <a:rPr lang="ko-KR" altLang="en-US"/>
              <a:t>모델은</a:t>
            </a:r>
            <a:r>
              <a:rPr lang="en-US" altLang="zh-CN"/>
              <a:t> </a:t>
            </a:r>
            <a:r>
              <a:rPr lang="ko-KR" altLang="en-US"/>
              <a:t>점진적</a:t>
            </a:r>
            <a:r>
              <a:rPr lang="en-US" altLang="zh-CN"/>
              <a:t> </a:t>
            </a:r>
            <a:r>
              <a:rPr lang="ko-KR" altLang="en-US"/>
              <a:t>잡음</a:t>
            </a:r>
            <a:r>
              <a:rPr lang="en-US" altLang="zh-CN"/>
              <a:t> </a:t>
            </a:r>
            <a:r>
              <a:rPr lang="ko-KR" altLang="en-US"/>
              <a:t>제거를</a:t>
            </a:r>
            <a:r>
              <a:rPr lang="en-US" altLang="zh-CN"/>
              <a:t> </a:t>
            </a:r>
            <a:r>
              <a:rPr lang="ko-KR" altLang="en-US"/>
              <a:t>통해</a:t>
            </a:r>
            <a:r>
              <a:rPr lang="en-US" altLang="zh-CN"/>
              <a:t> </a:t>
            </a:r>
            <a:r>
              <a:rPr lang="ko-KR" altLang="en-US"/>
              <a:t>더</a:t>
            </a:r>
            <a:r>
              <a:rPr lang="en-US" altLang="zh-CN"/>
              <a:t> </a:t>
            </a:r>
            <a:r>
              <a:rPr lang="ko-KR" altLang="en-US"/>
              <a:t>높은</a:t>
            </a:r>
            <a:r>
              <a:rPr lang="en-US" altLang="zh-CN"/>
              <a:t> </a:t>
            </a:r>
            <a:r>
              <a:rPr lang="ko-KR" altLang="en-US"/>
              <a:t>품질의</a:t>
            </a:r>
            <a:r>
              <a:rPr lang="en-US" altLang="zh-CN"/>
              <a:t> </a:t>
            </a:r>
            <a:r>
              <a:rPr lang="ko-KR" altLang="en-US"/>
              <a:t>텍스트를</a:t>
            </a:r>
            <a:r>
              <a:rPr lang="en-US" altLang="zh-CN"/>
              <a:t> </a:t>
            </a:r>
            <a:r>
              <a:rPr lang="ko-KR" altLang="en-US"/>
              <a:t>생성합니다</a:t>
            </a:r>
            <a:r>
              <a:rPr lang="en-US" altLang="zh-CN"/>
              <a:t>.</a:t>
            </a:r>
            <a:endParaRPr lang="en-US" altLang="zh-CN"/>
          </a:p>
          <a:p>
            <a:endParaRPr lang="en-US" altLang="zh-CN"/>
          </a:p>
          <a:p>
            <a:r>
              <a:rPr lang="en-US" altLang="ko-KR"/>
              <a:t>2</a:t>
            </a:r>
            <a:r>
              <a:rPr lang="zh-CN" altLang="en-US"/>
              <a:t>、</a:t>
            </a:r>
            <a:r>
              <a:rPr lang="ko-KR" altLang="en-US"/>
              <a:t>향상된</a:t>
            </a:r>
            <a:r>
              <a:rPr lang="en-US" altLang="zh-CN"/>
              <a:t> </a:t>
            </a:r>
            <a:r>
              <a:rPr lang="ko-KR" altLang="en-US"/>
              <a:t>다중</a:t>
            </a:r>
            <a:r>
              <a:rPr lang="en-US" altLang="zh-CN"/>
              <a:t> </a:t>
            </a:r>
            <a:r>
              <a:rPr lang="ko-KR" altLang="en-US"/>
              <a:t>작업</a:t>
            </a:r>
            <a:r>
              <a:rPr lang="en-US" altLang="zh-CN"/>
              <a:t> </a:t>
            </a:r>
            <a:r>
              <a:rPr lang="ko-KR" altLang="en-US"/>
              <a:t>및</a:t>
            </a:r>
            <a:r>
              <a:rPr lang="en-US" altLang="zh-CN"/>
              <a:t> </a:t>
            </a:r>
            <a:r>
              <a:rPr lang="ko-KR" altLang="en-US"/>
              <a:t>교차</a:t>
            </a:r>
            <a:r>
              <a:rPr lang="en-US" altLang="zh-CN"/>
              <a:t> </a:t>
            </a:r>
            <a:r>
              <a:rPr lang="ko-KR" altLang="en-US"/>
              <a:t>모달</a:t>
            </a:r>
            <a:r>
              <a:rPr lang="en-US" altLang="zh-CN"/>
              <a:t> </a:t>
            </a:r>
            <a:r>
              <a:rPr lang="ko-KR" altLang="en-US"/>
              <a:t>융합</a:t>
            </a:r>
            <a:r>
              <a:rPr lang="en-US" altLang="zh-CN"/>
              <a:t> </a:t>
            </a:r>
            <a:r>
              <a:rPr lang="ko-KR" altLang="en-US"/>
              <a:t>기능</a:t>
            </a:r>
            <a:endParaRPr lang="en-US" altLang="zh-CN"/>
          </a:p>
          <a:p>
            <a:r>
              <a:rPr lang="ko-KR" altLang="en-US"/>
              <a:t>모델은</a:t>
            </a:r>
            <a:r>
              <a:rPr lang="en-US" altLang="zh-CN"/>
              <a:t> </a:t>
            </a:r>
            <a:r>
              <a:rPr lang="ko-KR" altLang="en-US"/>
              <a:t>더</a:t>
            </a:r>
            <a:r>
              <a:rPr lang="en-US" altLang="zh-CN"/>
              <a:t> </a:t>
            </a:r>
            <a:r>
              <a:rPr lang="ko-KR" altLang="en-US"/>
              <a:t>이상</a:t>
            </a:r>
            <a:r>
              <a:rPr lang="en-US" altLang="zh-CN"/>
              <a:t> </a:t>
            </a:r>
            <a:r>
              <a:rPr lang="ko-KR" altLang="en-US"/>
              <a:t>단일</a:t>
            </a:r>
            <a:r>
              <a:rPr lang="en-US" altLang="zh-CN"/>
              <a:t> </a:t>
            </a:r>
            <a:r>
              <a:rPr lang="ko-KR" altLang="en-US"/>
              <a:t>텍스트</a:t>
            </a:r>
            <a:r>
              <a:rPr lang="en-US" altLang="zh-CN"/>
              <a:t> </a:t>
            </a:r>
            <a:r>
              <a:rPr lang="ko-KR" altLang="en-US"/>
              <a:t>생성에만</a:t>
            </a:r>
            <a:r>
              <a:rPr lang="en-US" altLang="zh-CN"/>
              <a:t> </a:t>
            </a:r>
            <a:r>
              <a:rPr lang="ko-KR" altLang="en-US"/>
              <a:t>국한되지</a:t>
            </a:r>
            <a:r>
              <a:rPr lang="en-US" altLang="zh-CN"/>
              <a:t> </a:t>
            </a:r>
            <a:r>
              <a:rPr lang="ko-KR" altLang="en-US"/>
              <a:t>않고</a:t>
            </a:r>
            <a:r>
              <a:rPr lang="en-US" altLang="zh-CN"/>
              <a:t> </a:t>
            </a:r>
            <a:r>
              <a:rPr lang="ko-KR" altLang="en-US"/>
              <a:t>다중</a:t>
            </a:r>
            <a:r>
              <a:rPr lang="en-US" altLang="zh-CN"/>
              <a:t> </a:t>
            </a:r>
            <a:r>
              <a:rPr lang="ko-KR" altLang="en-US"/>
              <a:t>작업</a:t>
            </a:r>
            <a:r>
              <a:rPr lang="en-US" altLang="zh-CN"/>
              <a:t> </a:t>
            </a:r>
            <a:r>
              <a:rPr lang="ko-KR" altLang="en-US"/>
              <a:t>및</a:t>
            </a:r>
            <a:r>
              <a:rPr lang="en-US" altLang="zh-CN"/>
              <a:t> </a:t>
            </a:r>
            <a:r>
              <a:rPr lang="ko-KR" altLang="en-US"/>
              <a:t>다중</a:t>
            </a:r>
            <a:r>
              <a:rPr lang="en-US" altLang="zh-CN"/>
              <a:t> </a:t>
            </a:r>
            <a:r>
              <a:rPr lang="ko-KR" altLang="en-US"/>
              <a:t>모달</a:t>
            </a:r>
            <a:r>
              <a:rPr lang="en-US" altLang="zh-CN"/>
              <a:t> </a:t>
            </a:r>
            <a:r>
              <a:rPr lang="ko-KR" altLang="en-US"/>
              <a:t>방식으로</a:t>
            </a:r>
            <a:r>
              <a:rPr lang="en-US" altLang="zh-CN"/>
              <a:t> </a:t>
            </a:r>
            <a:r>
              <a:rPr lang="ko-KR" altLang="en-US"/>
              <a:t>발전하고</a:t>
            </a:r>
            <a:r>
              <a:rPr lang="en-US" altLang="zh-CN"/>
              <a:t> </a:t>
            </a:r>
            <a:r>
              <a:rPr lang="ko-KR" altLang="en-US"/>
              <a:t>있습니다</a:t>
            </a:r>
            <a:r>
              <a:rPr lang="en-US" altLang="zh-CN"/>
              <a:t>. </a:t>
            </a:r>
            <a:r>
              <a:rPr lang="ko-KR" altLang="en-US"/>
              <a:t>예를</a:t>
            </a:r>
            <a:r>
              <a:rPr lang="en-US" altLang="zh-CN"/>
              <a:t> </a:t>
            </a:r>
            <a:r>
              <a:rPr lang="ko-KR" altLang="en-US"/>
              <a:t>들어</a:t>
            </a:r>
            <a:r>
              <a:rPr lang="en-US" altLang="zh-CN"/>
              <a:t>, OmniVec2</a:t>
            </a:r>
            <a:r>
              <a:rPr lang="ko-KR" altLang="en-US"/>
              <a:t>는</a:t>
            </a:r>
            <a:r>
              <a:rPr lang="en-US" altLang="zh-CN"/>
              <a:t> </a:t>
            </a:r>
            <a:r>
              <a:rPr lang="ko-KR" altLang="en-US"/>
              <a:t>크로스모달</a:t>
            </a:r>
            <a:r>
              <a:rPr lang="en-US" altLang="zh-CN"/>
              <a:t> </a:t>
            </a:r>
            <a:r>
              <a:rPr lang="ko-KR" altLang="en-US"/>
              <a:t>트랜스포머와</a:t>
            </a:r>
            <a:r>
              <a:rPr lang="en-US" altLang="zh-CN"/>
              <a:t> </a:t>
            </a:r>
            <a:r>
              <a:rPr lang="ko-KR" altLang="en-US"/>
              <a:t>확률적</a:t>
            </a:r>
            <a:r>
              <a:rPr lang="en-US" altLang="zh-CN"/>
              <a:t> </a:t>
            </a:r>
            <a:r>
              <a:rPr lang="ko-KR" altLang="en-US"/>
              <a:t>모달리티</a:t>
            </a:r>
            <a:r>
              <a:rPr lang="en-US" altLang="zh-CN"/>
              <a:t> </a:t>
            </a:r>
            <a:r>
              <a:rPr lang="ko-KR" altLang="en-US"/>
              <a:t>전환</a:t>
            </a:r>
            <a:r>
              <a:rPr lang="en-US" altLang="zh-CN"/>
              <a:t> </a:t>
            </a:r>
            <a:r>
              <a:rPr lang="ko-KR" altLang="en-US"/>
              <a:t>전략을</a:t>
            </a:r>
            <a:r>
              <a:rPr lang="en-US" altLang="zh-CN"/>
              <a:t> </a:t>
            </a:r>
            <a:r>
              <a:rPr lang="ko-KR" altLang="en-US"/>
              <a:t>통해</a:t>
            </a:r>
            <a:r>
              <a:rPr lang="en-US" altLang="zh-CN"/>
              <a:t> </a:t>
            </a:r>
            <a:r>
              <a:rPr lang="ko-KR" altLang="en-US"/>
              <a:t>이미지</a:t>
            </a:r>
            <a:r>
              <a:rPr lang="en-US" altLang="zh-CN"/>
              <a:t>, </a:t>
            </a:r>
            <a:r>
              <a:rPr lang="ko-KR" altLang="en-US"/>
              <a:t>오디오</a:t>
            </a:r>
            <a:r>
              <a:rPr lang="en-US" altLang="zh-CN"/>
              <a:t>, </a:t>
            </a:r>
            <a:r>
              <a:rPr lang="ko-KR" altLang="en-US"/>
              <a:t>텍스트를</a:t>
            </a:r>
            <a:r>
              <a:rPr lang="en-US" altLang="zh-CN"/>
              <a:t> </a:t>
            </a:r>
            <a:r>
              <a:rPr lang="ko-KR" altLang="en-US"/>
              <a:t>포함한</a:t>
            </a:r>
            <a:r>
              <a:rPr lang="en-US" altLang="zh-CN"/>
              <a:t> 12</a:t>
            </a:r>
            <a:r>
              <a:rPr lang="ko-KR" altLang="en-US"/>
              <a:t>가지</a:t>
            </a:r>
            <a:r>
              <a:rPr lang="en-US" altLang="zh-CN"/>
              <a:t> </a:t>
            </a:r>
            <a:r>
              <a:rPr lang="ko-KR" altLang="en-US"/>
              <a:t>모달리티를</a:t>
            </a:r>
            <a:r>
              <a:rPr lang="en-US" altLang="zh-CN"/>
              <a:t> </a:t>
            </a:r>
            <a:r>
              <a:rPr lang="ko-KR" altLang="en-US"/>
              <a:t>동시에</a:t>
            </a:r>
            <a:r>
              <a:rPr lang="en-US" altLang="zh-CN"/>
              <a:t> </a:t>
            </a:r>
            <a:r>
              <a:rPr lang="ko-KR" altLang="en-US"/>
              <a:t>처리하여</a:t>
            </a:r>
            <a:r>
              <a:rPr lang="en-US" altLang="zh-CN"/>
              <a:t> </a:t>
            </a:r>
            <a:r>
              <a:rPr lang="ko-KR" altLang="en-US"/>
              <a:t>텍스트</a:t>
            </a:r>
            <a:r>
              <a:rPr lang="en-US" altLang="zh-CN"/>
              <a:t> </a:t>
            </a:r>
            <a:r>
              <a:rPr lang="ko-KR" altLang="en-US"/>
              <a:t>요약과</a:t>
            </a:r>
            <a:r>
              <a:rPr lang="en-US" altLang="zh-CN"/>
              <a:t> </a:t>
            </a:r>
            <a:r>
              <a:rPr lang="ko-KR" altLang="en-US"/>
              <a:t>같은</a:t>
            </a:r>
            <a:r>
              <a:rPr lang="en-US" altLang="zh-CN"/>
              <a:t> </a:t>
            </a:r>
            <a:r>
              <a:rPr lang="ko-KR" altLang="en-US"/>
              <a:t>작업에서</a:t>
            </a:r>
            <a:r>
              <a:rPr lang="en-US" altLang="zh-CN"/>
              <a:t> </a:t>
            </a:r>
            <a:r>
              <a:rPr lang="ko-KR" altLang="en-US"/>
              <a:t>기존</a:t>
            </a:r>
            <a:r>
              <a:rPr lang="en-US" altLang="zh-CN"/>
              <a:t> </a:t>
            </a:r>
            <a:r>
              <a:rPr lang="ko-KR" altLang="en-US"/>
              <a:t>방법보다</a:t>
            </a:r>
            <a:r>
              <a:rPr lang="en-US" altLang="zh-CN"/>
              <a:t> </a:t>
            </a:r>
            <a:r>
              <a:rPr lang="ko-KR" altLang="en-US"/>
              <a:t>훨씬</a:t>
            </a:r>
            <a:r>
              <a:rPr lang="en-US" altLang="zh-CN"/>
              <a:t> </a:t>
            </a:r>
            <a:r>
              <a:rPr lang="ko-KR" altLang="en-US"/>
              <a:t>뛰어난</a:t>
            </a:r>
            <a:r>
              <a:rPr lang="en-US" altLang="zh-CN"/>
              <a:t> </a:t>
            </a:r>
            <a:r>
              <a:rPr lang="ko-KR" altLang="en-US"/>
              <a:t>성능을</a:t>
            </a:r>
            <a:r>
              <a:rPr lang="en-US" altLang="zh-CN"/>
              <a:t> </a:t>
            </a:r>
            <a:r>
              <a:rPr lang="ko-KR" altLang="en-US"/>
              <a:t>보여줍니다</a:t>
            </a:r>
            <a:r>
              <a:rPr lang="en-US" altLang="zh-CN"/>
              <a:t>. </a:t>
            </a:r>
            <a:r>
              <a:rPr lang="ko-KR" altLang="en-US"/>
              <a:t>또한</a:t>
            </a:r>
            <a:r>
              <a:rPr lang="en-US" altLang="zh-CN"/>
              <a:t>, M2M </a:t>
            </a:r>
            <a:r>
              <a:rPr lang="ko-KR" altLang="en-US"/>
              <a:t>및</a:t>
            </a:r>
            <a:r>
              <a:rPr lang="en-US" altLang="zh-CN"/>
              <a:t> mT5</a:t>
            </a:r>
            <a:r>
              <a:rPr lang="ko-KR" altLang="en-US"/>
              <a:t>와</a:t>
            </a:r>
            <a:r>
              <a:rPr lang="en-US" altLang="zh-CN"/>
              <a:t> </a:t>
            </a:r>
            <a:r>
              <a:rPr lang="ko-KR" altLang="en-US"/>
              <a:t>같은</a:t>
            </a:r>
            <a:r>
              <a:rPr lang="en-US" altLang="zh-CN"/>
              <a:t> </a:t>
            </a:r>
            <a:r>
              <a:rPr lang="ko-KR" altLang="en-US"/>
              <a:t>다국어</a:t>
            </a:r>
            <a:r>
              <a:rPr lang="en-US" altLang="zh-CN"/>
              <a:t> </a:t>
            </a:r>
            <a:r>
              <a:rPr lang="ko-KR" altLang="en-US"/>
              <a:t>모델은</a:t>
            </a:r>
            <a:r>
              <a:rPr lang="en-US" altLang="zh-CN"/>
              <a:t> </a:t>
            </a:r>
            <a:r>
              <a:rPr lang="ko-KR" altLang="en-US"/>
              <a:t>중간</a:t>
            </a:r>
            <a:r>
              <a:rPr lang="en-US" altLang="zh-CN"/>
              <a:t> </a:t>
            </a:r>
            <a:r>
              <a:rPr lang="ko-KR" altLang="en-US"/>
              <a:t>계층</a:t>
            </a:r>
            <a:r>
              <a:rPr lang="en-US" altLang="zh-CN"/>
              <a:t> </a:t>
            </a:r>
            <a:r>
              <a:rPr lang="ko-KR" altLang="en-US"/>
              <a:t>없이</a:t>
            </a:r>
            <a:r>
              <a:rPr lang="en-US" altLang="zh-CN"/>
              <a:t> </a:t>
            </a:r>
            <a:r>
              <a:rPr lang="ko-KR" altLang="en-US"/>
              <a:t>직접</a:t>
            </a:r>
            <a:r>
              <a:rPr lang="en-US" altLang="zh-CN"/>
              <a:t> </a:t>
            </a:r>
            <a:r>
              <a:rPr lang="ko-KR" altLang="en-US"/>
              <a:t>번역을</a:t>
            </a:r>
            <a:r>
              <a:rPr lang="en-US" altLang="zh-CN"/>
              <a:t> </a:t>
            </a:r>
            <a:r>
              <a:rPr lang="ko-KR" altLang="en-US"/>
              <a:t>통해</a:t>
            </a:r>
            <a:r>
              <a:rPr lang="en-US" altLang="zh-CN"/>
              <a:t> </a:t>
            </a:r>
            <a:r>
              <a:rPr lang="ko-KR" altLang="en-US"/>
              <a:t>저자원</a:t>
            </a:r>
            <a:r>
              <a:rPr lang="en-US" altLang="zh-CN"/>
              <a:t> </a:t>
            </a:r>
            <a:r>
              <a:rPr lang="ko-KR" altLang="en-US"/>
              <a:t>언어의</a:t>
            </a:r>
            <a:r>
              <a:rPr lang="en-US" altLang="zh-CN"/>
              <a:t> </a:t>
            </a:r>
            <a:r>
              <a:rPr lang="ko-KR" altLang="en-US"/>
              <a:t>성능을</a:t>
            </a:r>
            <a:r>
              <a:rPr lang="en-US" altLang="zh-CN"/>
              <a:t> </a:t>
            </a:r>
            <a:r>
              <a:rPr lang="ko-KR" altLang="en-US"/>
              <a:t>향상시킵니다</a:t>
            </a:r>
            <a:r>
              <a:rPr lang="en-US" altLang="zh-CN"/>
              <a:t>.</a:t>
            </a:r>
            <a:endParaRPr lang="en-US" altLang="zh-CN"/>
          </a:p>
          <a:p>
            <a:endParaRPr lang="zh-CN" altLang="en-US"/>
          </a:p>
          <a:p>
            <a:r>
              <a:rPr lang="en-US" altLang="ko-KR"/>
              <a:t>3</a:t>
            </a:r>
            <a:r>
              <a:rPr lang="zh-CN" altLang="en-US"/>
              <a:t>、</a:t>
            </a:r>
            <a:r>
              <a:rPr lang="ko-KR" altLang="en-US"/>
              <a:t>생성</a:t>
            </a:r>
            <a:r>
              <a:rPr lang="en-US" altLang="zh-CN"/>
              <a:t> </a:t>
            </a:r>
            <a:r>
              <a:rPr lang="ko-KR" altLang="en-US"/>
              <a:t>품질과</a:t>
            </a:r>
            <a:r>
              <a:rPr lang="en-US" altLang="zh-CN"/>
              <a:t> </a:t>
            </a:r>
            <a:r>
              <a:rPr lang="ko-KR" altLang="en-US"/>
              <a:t>제어</a:t>
            </a:r>
            <a:r>
              <a:rPr lang="en-US" altLang="zh-CN"/>
              <a:t> </a:t>
            </a:r>
            <a:r>
              <a:rPr lang="ko-KR" altLang="en-US"/>
              <a:t>가능성을</a:t>
            </a:r>
            <a:r>
              <a:rPr lang="en-US" altLang="zh-CN"/>
              <a:t> </a:t>
            </a:r>
            <a:r>
              <a:rPr lang="ko-KR" altLang="en-US"/>
              <a:t>향상시키기</a:t>
            </a:r>
            <a:r>
              <a:rPr lang="en-US" altLang="zh-CN"/>
              <a:t> </a:t>
            </a:r>
            <a:r>
              <a:rPr lang="ko-KR" altLang="en-US"/>
              <a:t>위해</a:t>
            </a:r>
            <a:r>
              <a:rPr lang="en-US" altLang="zh-CN"/>
              <a:t> </a:t>
            </a:r>
            <a:r>
              <a:rPr lang="ko-KR" altLang="en-US"/>
              <a:t>검색</a:t>
            </a:r>
            <a:r>
              <a:rPr lang="en-US" altLang="zh-CN"/>
              <a:t> </a:t>
            </a:r>
            <a:r>
              <a:rPr lang="ko-KR" altLang="en-US"/>
              <a:t>증강</a:t>
            </a:r>
            <a:r>
              <a:rPr lang="en-US" altLang="zh-CN"/>
              <a:t>(</a:t>
            </a:r>
            <a:r>
              <a:rPr lang="ko-KR" altLang="en-US"/>
              <a:t>예</a:t>
            </a:r>
            <a:r>
              <a:rPr lang="en-US" altLang="zh-CN"/>
              <a:t>: RoG, PROLINK), </a:t>
            </a:r>
            <a:r>
              <a:rPr lang="ko-KR" altLang="en-US"/>
              <a:t>프롬프트</a:t>
            </a:r>
            <a:r>
              <a:rPr lang="en-US" altLang="zh-CN"/>
              <a:t> </a:t>
            </a:r>
            <a:r>
              <a:rPr lang="ko-KR" altLang="en-US"/>
              <a:t>최적화</a:t>
            </a:r>
            <a:r>
              <a:rPr lang="en-US" altLang="zh-CN"/>
              <a:t>(</a:t>
            </a:r>
            <a:r>
              <a:rPr lang="ko-KR" altLang="en-US"/>
              <a:t>예</a:t>
            </a:r>
            <a:r>
              <a:rPr lang="en-US" altLang="zh-CN"/>
              <a:t>: MINPROMPT), </a:t>
            </a:r>
            <a:r>
              <a:rPr lang="ko-KR" altLang="en-US"/>
              <a:t>추론</a:t>
            </a:r>
            <a:r>
              <a:rPr lang="en-US" altLang="zh-CN"/>
              <a:t> </a:t>
            </a:r>
            <a:r>
              <a:rPr lang="ko-KR" altLang="en-US"/>
              <a:t>증강</a:t>
            </a:r>
            <a:r>
              <a:rPr lang="en-US" altLang="zh-CN"/>
              <a:t>(</a:t>
            </a:r>
            <a:r>
              <a:rPr lang="ko-KR" altLang="en-US"/>
              <a:t>예</a:t>
            </a:r>
            <a:r>
              <a:rPr lang="en-US" altLang="zh-CN"/>
              <a:t>: Readi-GPT)</a:t>
            </a:r>
            <a:r>
              <a:rPr lang="ko-KR" altLang="en-US"/>
              <a:t>과</a:t>
            </a:r>
            <a:r>
              <a:rPr lang="en-US" altLang="zh-CN"/>
              <a:t> </a:t>
            </a:r>
            <a:r>
              <a:rPr lang="ko-KR" altLang="en-US"/>
              <a:t>같은</a:t>
            </a:r>
            <a:r>
              <a:rPr lang="en-US" altLang="zh-CN"/>
              <a:t> </a:t>
            </a:r>
            <a:r>
              <a:rPr lang="ko-KR" altLang="en-US"/>
              <a:t>전략이</a:t>
            </a:r>
            <a:r>
              <a:rPr lang="en-US" altLang="zh-CN"/>
              <a:t> </a:t>
            </a:r>
            <a:r>
              <a:rPr lang="ko-KR" altLang="en-US"/>
              <a:t>도입되었습니다</a:t>
            </a:r>
            <a:r>
              <a:rPr lang="en-US" altLang="zh-CN"/>
              <a:t>. </a:t>
            </a:r>
            <a:r>
              <a:rPr lang="ko-KR" altLang="en-US"/>
              <a:t>이러한</a:t>
            </a:r>
            <a:r>
              <a:rPr lang="en-US" altLang="zh-CN"/>
              <a:t> </a:t>
            </a:r>
            <a:r>
              <a:rPr lang="ko-KR" altLang="en-US"/>
              <a:t>전략은</a:t>
            </a:r>
            <a:r>
              <a:rPr lang="en-US" altLang="zh-CN"/>
              <a:t> </a:t>
            </a:r>
            <a:r>
              <a:rPr lang="ko-KR" altLang="en-US"/>
              <a:t>질문</a:t>
            </a:r>
            <a:r>
              <a:rPr lang="en-US" altLang="zh-CN"/>
              <a:t> </a:t>
            </a:r>
            <a:r>
              <a:rPr lang="ko-KR" altLang="en-US"/>
              <a:t>답변</a:t>
            </a:r>
            <a:r>
              <a:rPr lang="en-US" altLang="zh-CN"/>
              <a:t> </a:t>
            </a:r>
            <a:r>
              <a:rPr lang="ko-KR" altLang="en-US"/>
              <a:t>및</a:t>
            </a:r>
            <a:r>
              <a:rPr lang="en-US" altLang="zh-CN"/>
              <a:t> </a:t>
            </a:r>
            <a:r>
              <a:rPr lang="ko-KR" altLang="en-US"/>
              <a:t>정보</a:t>
            </a:r>
            <a:r>
              <a:rPr lang="en-US" altLang="zh-CN"/>
              <a:t> </a:t>
            </a:r>
            <a:r>
              <a:rPr lang="ko-KR" altLang="en-US"/>
              <a:t>추출과</a:t>
            </a:r>
            <a:r>
              <a:rPr lang="en-US" altLang="zh-CN"/>
              <a:t> </a:t>
            </a:r>
            <a:r>
              <a:rPr lang="ko-KR" altLang="en-US"/>
              <a:t>같은</a:t>
            </a:r>
            <a:r>
              <a:rPr lang="en-US" altLang="zh-CN"/>
              <a:t> </a:t>
            </a:r>
            <a:r>
              <a:rPr lang="ko-KR" altLang="en-US"/>
              <a:t>작업의</a:t>
            </a:r>
            <a:r>
              <a:rPr lang="en-US" altLang="zh-CN"/>
              <a:t> </a:t>
            </a:r>
            <a:r>
              <a:rPr lang="ko-KR" altLang="en-US"/>
              <a:t>정확성과</a:t>
            </a:r>
            <a:r>
              <a:rPr lang="en-US" altLang="zh-CN"/>
              <a:t> </a:t>
            </a:r>
            <a:r>
              <a:rPr lang="ko-KR" altLang="en-US"/>
              <a:t>해석</a:t>
            </a:r>
            <a:r>
              <a:rPr lang="en-US" altLang="zh-CN"/>
              <a:t> </a:t>
            </a:r>
            <a:r>
              <a:rPr lang="ko-KR" altLang="en-US"/>
              <a:t>가능성을</a:t>
            </a:r>
            <a:r>
              <a:rPr lang="en-US" altLang="zh-CN"/>
              <a:t> </a:t>
            </a:r>
            <a:r>
              <a:rPr lang="ko-KR" altLang="en-US"/>
              <a:t>향상시킵니다</a:t>
            </a:r>
            <a:r>
              <a:rPr lang="en-US" altLang="zh-CN"/>
              <a:t>. </a:t>
            </a:r>
            <a:r>
              <a:rPr lang="ko-KR" altLang="en-US"/>
              <a:t>더욱이</a:t>
            </a:r>
            <a:r>
              <a:rPr lang="en-US" altLang="zh-CN"/>
              <a:t>, </a:t>
            </a:r>
            <a:r>
              <a:rPr lang="ko-KR" altLang="en-US"/>
              <a:t>텍스트</a:t>
            </a:r>
            <a:r>
              <a:rPr lang="en-US" altLang="zh-CN"/>
              <a:t> </a:t>
            </a:r>
            <a:r>
              <a:rPr lang="ko-KR" altLang="en-US"/>
              <a:t>요약</a:t>
            </a:r>
            <a:r>
              <a:rPr lang="en-US" altLang="zh-CN"/>
              <a:t> </a:t>
            </a:r>
            <a:r>
              <a:rPr lang="ko-KR" altLang="en-US"/>
              <a:t>및</a:t>
            </a:r>
            <a:r>
              <a:rPr lang="en-US" altLang="zh-CN"/>
              <a:t> </a:t>
            </a:r>
            <a:r>
              <a:rPr lang="ko-KR" altLang="en-US"/>
              <a:t>기계</a:t>
            </a:r>
            <a:r>
              <a:rPr lang="en-US" altLang="zh-CN"/>
              <a:t> </a:t>
            </a:r>
            <a:r>
              <a:rPr lang="ko-KR" altLang="en-US"/>
              <a:t>번역과</a:t>
            </a:r>
            <a:r>
              <a:rPr lang="en-US" altLang="zh-CN"/>
              <a:t> </a:t>
            </a:r>
            <a:r>
              <a:rPr lang="ko-KR" altLang="en-US"/>
              <a:t>같은</a:t>
            </a:r>
            <a:r>
              <a:rPr lang="en-US" altLang="zh-CN"/>
              <a:t> </a:t>
            </a:r>
            <a:r>
              <a:rPr lang="ko-KR" altLang="en-US"/>
              <a:t>작업에서</a:t>
            </a:r>
            <a:r>
              <a:rPr lang="en-US" altLang="zh-CN"/>
              <a:t> ROUGE </a:t>
            </a:r>
            <a:r>
              <a:rPr lang="ko-KR" altLang="en-US"/>
              <a:t>및</a:t>
            </a:r>
            <a:r>
              <a:rPr lang="en-US" altLang="zh-CN"/>
              <a:t> BLEU</a:t>
            </a:r>
            <a:r>
              <a:rPr lang="ko-KR" altLang="en-US"/>
              <a:t>와</a:t>
            </a:r>
            <a:r>
              <a:rPr lang="en-US" altLang="zh-CN"/>
              <a:t> </a:t>
            </a:r>
            <a:r>
              <a:rPr lang="ko-KR" altLang="en-US"/>
              <a:t>같은</a:t>
            </a:r>
            <a:r>
              <a:rPr lang="en-US" altLang="zh-CN"/>
              <a:t> </a:t>
            </a:r>
            <a:r>
              <a:rPr lang="ko-KR" altLang="en-US"/>
              <a:t>지표의</a:t>
            </a:r>
            <a:r>
              <a:rPr lang="en-US" altLang="zh-CN"/>
              <a:t> </a:t>
            </a:r>
            <a:r>
              <a:rPr lang="ko-KR" altLang="en-US"/>
              <a:t>지속적인</a:t>
            </a:r>
            <a:r>
              <a:rPr lang="en-US" altLang="zh-CN"/>
              <a:t> </a:t>
            </a:r>
            <a:r>
              <a:rPr lang="ko-KR" altLang="en-US"/>
              <a:t>향상은</a:t>
            </a:r>
            <a:r>
              <a:rPr lang="en-US" altLang="zh-CN"/>
              <a:t> </a:t>
            </a:r>
            <a:r>
              <a:rPr lang="ko-KR" altLang="en-US"/>
              <a:t>생성된</a:t>
            </a:r>
            <a:r>
              <a:rPr lang="en-US" altLang="zh-CN"/>
              <a:t> </a:t>
            </a:r>
            <a:r>
              <a:rPr lang="ko-KR" altLang="en-US"/>
              <a:t>콘텐츠의</a:t>
            </a:r>
            <a:r>
              <a:rPr lang="en-US" altLang="zh-CN"/>
              <a:t> </a:t>
            </a:r>
            <a:r>
              <a:rPr lang="ko-KR" altLang="en-US"/>
              <a:t>품질과</a:t>
            </a:r>
            <a:r>
              <a:rPr lang="en-US" altLang="zh-CN"/>
              <a:t> </a:t>
            </a:r>
            <a:r>
              <a:rPr lang="ko-KR" altLang="en-US"/>
              <a:t>일관성이</a:t>
            </a:r>
            <a:r>
              <a:rPr lang="en-US" altLang="zh-CN"/>
              <a:t> </a:t>
            </a:r>
            <a:r>
              <a:rPr lang="ko-KR" altLang="en-US"/>
              <a:t>꾸준히</a:t>
            </a:r>
            <a:r>
              <a:rPr lang="en-US" altLang="zh-CN"/>
              <a:t> </a:t>
            </a:r>
            <a:r>
              <a:rPr lang="ko-KR" altLang="en-US"/>
              <a:t>개선되고</a:t>
            </a:r>
            <a:r>
              <a:rPr lang="en-US" altLang="zh-CN"/>
              <a:t> </a:t>
            </a:r>
            <a:r>
              <a:rPr lang="ko-KR" altLang="en-US"/>
              <a:t>있음을</a:t>
            </a:r>
            <a:r>
              <a:rPr lang="en-US" altLang="zh-CN"/>
              <a:t> </a:t>
            </a:r>
            <a:r>
              <a:rPr lang="ko-KR" altLang="en-US"/>
              <a:t>보여줍니다</a:t>
            </a:r>
            <a:r>
              <a:rPr lang="en-US" altLang="zh-CN"/>
              <a:t>.</a:t>
            </a:r>
            <a:endParaRPr lang="en-US" altLang="zh-CN"/>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65280" y="204988"/>
            <a:ext cx="11661440" cy="6448024"/>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4631867" y="353222"/>
            <a:ext cx="2727607" cy="337185"/>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思源宋体 CN SemiBold" panose="02020600000000000000" pitchFamily="18" charset="-122"/>
                <a:ea typeface="思源宋体 CN SemiBold" panose="02020600000000000000" pitchFamily="18" charset="-122"/>
              </a:rPr>
              <a:t>데이터 출처</a:t>
            </a:r>
            <a:endParaRPr lang="zh-CN" altLang="en-US" sz="1600" dirty="0">
              <a:solidFill>
                <a:schemeClr val="tx1">
                  <a:lumMod val="75000"/>
                  <a:lumOff val="25000"/>
                </a:schemeClr>
              </a:solidFill>
              <a:latin typeface="思源宋体 CN SemiBold" panose="02020600000000000000" pitchFamily="18" charset="-122"/>
              <a:ea typeface="思源宋体 CN SemiBold" panose="02020600000000000000" pitchFamily="18" charset="-122"/>
            </a:endParaRPr>
          </a:p>
        </p:txBody>
      </p:sp>
      <p:graphicFrame>
        <p:nvGraphicFramePr>
          <p:cNvPr id="3" name="表格 2"/>
          <p:cNvGraphicFramePr/>
          <p:nvPr/>
        </p:nvGraphicFramePr>
        <p:xfrm>
          <a:off x="662940" y="3489960"/>
          <a:ext cx="10504170" cy="3753485"/>
        </p:xfrm>
        <a:graphic>
          <a:graphicData uri="http://schemas.openxmlformats.org/drawingml/2006/table">
            <a:tbl>
              <a:tblPr/>
              <a:tblGrid>
                <a:gridCol w="2117090"/>
                <a:gridCol w="2096770"/>
                <a:gridCol w="2096770"/>
                <a:gridCol w="2096770"/>
                <a:gridCol w="2096770"/>
              </a:tblGrid>
              <a:tr h="362585">
                <a:tc>
                  <a:txBody>
                    <a:bodyPr/>
                    <a:p>
                      <a:pPr algn="l">
                        <a:lnSpc>
                          <a:spcPts val="1500"/>
                        </a:lnSpc>
                      </a:pPr>
                      <a:r>
                        <a:rPr lang="zh-CN" altLang="en-US" sz="800" b="0" i="0">
                          <a:solidFill>
                            <a:srgbClr val="0F1115"/>
                          </a:solidFill>
                          <a:latin typeface="quote-cjk-patch"/>
                          <a:ea typeface="quote-cjk-patch"/>
                        </a:rPr>
                        <a:t>데이터 출처</a:t>
                      </a:r>
                      <a:endParaRPr lang="zh-CN" altLang="en-US" sz="800" b="0" i="0">
                        <a:solidFill>
                          <a:srgbClr val="0F1115"/>
                        </a:solidFill>
                        <a:latin typeface="quote-cjk-patch"/>
                        <a:ea typeface="quote-cjk-patch"/>
                      </a:endParaRPr>
                    </a:p>
                  </a:txBody>
                  <a:tcPr marL="0" marR="122237" marT="76517" marB="76517" anchor="ctr" anchorCtr="0">
                    <a:lnL>
                      <a:noFill/>
                    </a:lnL>
                    <a:lnR>
                      <a:noFill/>
                    </a:lnR>
                    <a:lnT>
                      <a:noFill/>
                    </a:lnT>
                    <a:lnB>
                      <a:noFill/>
                    </a:lnB>
                    <a:noFill/>
                  </a:tcPr>
                </a:tc>
                <a:tc>
                  <a:txBody>
                    <a:bodyPr/>
                    <a:p>
                      <a:pPr algn="l">
                        <a:lnSpc>
                          <a:spcPts val="1500"/>
                        </a:lnSpc>
                      </a:pPr>
                      <a:r>
                        <a:rPr lang="zh-CN" altLang="en-US" sz="800" b="0" i="0">
                          <a:solidFill>
                            <a:srgbClr val="0F1115"/>
                          </a:solidFill>
                          <a:latin typeface="quote-cjk-patch"/>
                          <a:ea typeface="quote-cjk-patch"/>
                        </a:rPr>
                        <a:t>플랫폼/업무 대표</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gn="l">
                        <a:lnSpc>
                          <a:spcPts val="1500"/>
                        </a:lnSpc>
                      </a:pPr>
                      <a:r>
                        <a:rPr lang="zh-CN" altLang="en-US" sz="800" b="0" i="0">
                          <a:solidFill>
                            <a:srgbClr val="0F1115"/>
                          </a:solidFill>
                          <a:latin typeface="quote-cjk-patch"/>
                          <a:ea typeface="quote-cjk-patch"/>
                        </a:rPr>
                        <a:t>데이터 규모/특징</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gn="l">
                        <a:lnSpc>
                          <a:spcPts val="1500"/>
                        </a:lnSpc>
                      </a:pPr>
                      <a:r>
                        <a:rPr lang="zh-CN" altLang="en-US" sz="800" b="0" i="0">
                          <a:solidFill>
                            <a:srgbClr val="0F1115"/>
                          </a:solidFill>
                          <a:latin typeface="quote-cjk-patch"/>
                          <a:ea typeface="quote-cjk-patch"/>
                        </a:rPr>
                        <a:t>우위</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gn="l">
                        <a:lnSpc>
                          <a:spcPts val="1500"/>
                        </a:lnSpc>
                      </a:pPr>
                      <a:r>
                        <a:rPr lang="zh-CN" altLang="en-US" sz="800" b="0" i="0">
                          <a:solidFill>
                            <a:srgbClr val="0F1115"/>
                          </a:solidFill>
                          <a:latin typeface="quote-cjk-patch"/>
                          <a:ea typeface="quote-cjk-patch"/>
                        </a:rPr>
                        <a:t>도전</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r>
              <a:tr h="0">
                <a:tc>
                  <a:txBody>
                    <a:bodyPr/>
                    <a:p>
                      <a:pPr>
                        <a:lnSpc>
                          <a:spcPts val="1500"/>
                        </a:lnSpc>
                      </a:pPr>
                      <a:r>
                        <a:rPr lang="zh-CN" altLang="en-US" sz="800" b="0" i="0">
                          <a:solidFill>
                            <a:srgbClr val="0F1115"/>
                          </a:solidFill>
                          <a:latin typeface="quote-cjk-patch"/>
                          <a:ea typeface="quote-cjk-patch"/>
                        </a:rPr>
                        <a:t>시뮬레이터</a:t>
                      </a:r>
                      <a:endParaRPr lang="zh-CN" altLang="en-US" sz="800" b="0" i="0">
                        <a:solidFill>
                          <a:srgbClr val="0F1115"/>
                        </a:solidFill>
                        <a:latin typeface="quote-cjk-patch"/>
                        <a:ea typeface="quote-cjk-patch"/>
                      </a:endParaRPr>
                    </a:p>
                  </a:txBody>
                  <a:tcPr marL="0"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BEHAVIOR-1K</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1000개 이상의 이벤트, 9000개 이상의 객체</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저비용, 안전성, 반복 가능성</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Sim2Real 간격</a:t>
                      </a:r>
                      <a:endParaRPr lang="en-US" altLang="zh-CN" sz="800" b="0" i="0">
                        <a:solidFill>
                          <a:srgbClr val="0F1115"/>
                        </a:solidFill>
                        <a:latin typeface="quote-cjk-patch"/>
                        <a:ea typeface="quote-cjk-patch"/>
                      </a:endParaRPr>
                    </a:p>
                  </a:txBody>
                  <a:tcPr marL="122237" marR="0" marT="76517" marB="76517" anchor="ctr" anchorCtr="0">
                    <a:lnL>
                      <a:noFill/>
                    </a:lnL>
                    <a:lnR>
                      <a:noFill/>
                    </a:lnR>
                    <a:lnT>
                      <a:noFill/>
                    </a:lnT>
                    <a:lnB>
                      <a:noFill/>
                    </a:lnB>
                    <a:noFill/>
                  </a:tcPr>
                </a:tc>
              </a:tr>
              <a:tr h="0">
                <a:tc>
                  <a:txBody>
                    <a:bodyPr/>
                    <a:p>
                      <a:pPr>
                        <a:lnSpc>
                          <a:spcPts val="1500"/>
                        </a:lnSpc>
                      </a:pPr>
                      <a:r>
                        <a:rPr lang="zh-CN" altLang="en-US" sz="800" b="0" i="0">
                          <a:solidFill>
                            <a:srgbClr val="0F1115"/>
                          </a:solidFill>
                          <a:latin typeface="quote-cjk-patch"/>
                          <a:ea typeface="quote-cjk-patch"/>
                        </a:rPr>
                        <a:t>시뮬레이터</a:t>
                      </a:r>
                      <a:endParaRPr lang="zh-CN" altLang="en-US" sz="800" b="0" i="0">
                        <a:solidFill>
                          <a:srgbClr val="0F1115"/>
                        </a:solidFill>
                        <a:latin typeface="quote-cjk-patch"/>
                        <a:ea typeface="quote-cjk-patch"/>
                      </a:endParaRPr>
                    </a:p>
                  </a:txBody>
                  <a:tcPr marL="0"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IsaacGym</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GPU 가속으로 백만 프레임/초 수준의 시뮬레이션 프레임률을 달성합니다.</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강화 학습의 빠른 반복</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물리적 정밀도가 제한됩니다.</a:t>
                      </a:r>
                      <a:endParaRPr lang="zh-CN" altLang="en-US" sz="800" b="0" i="0">
                        <a:solidFill>
                          <a:srgbClr val="0F1115"/>
                        </a:solidFill>
                        <a:latin typeface="quote-cjk-patch"/>
                        <a:ea typeface="quote-cjk-patch"/>
                      </a:endParaRPr>
                    </a:p>
                  </a:txBody>
                  <a:tcPr marL="122237" marR="0" marT="76517" marB="76517" anchor="ctr" anchorCtr="0">
                    <a:lnL>
                      <a:noFill/>
                    </a:lnL>
                    <a:lnR>
                      <a:noFill/>
                    </a:lnR>
                    <a:lnT>
                      <a:noFill/>
                    </a:lnT>
                    <a:lnB>
                      <a:noFill/>
                    </a:lnB>
                    <a:noFill/>
                  </a:tcPr>
                </a:tc>
              </a:tr>
              <a:tr h="0">
                <a:tc>
                  <a:txBody>
                    <a:bodyPr/>
                    <a:p>
                      <a:pPr>
                        <a:lnSpc>
                          <a:spcPts val="1500"/>
                        </a:lnSpc>
                      </a:pPr>
                      <a:r>
                        <a:rPr lang="zh-CN" altLang="en-US" sz="800" b="0" i="0">
                          <a:solidFill>
                            <a:srgbClr val="0F1115"/>
                          </a:solidFill>
                          <a:latin typeface="quote-cjk-patch"/>
                          <a:ea typeface="quote-cjk-patch"/>
                        </a:rPr>
                        <a:t>모방 학습</a:t>
                      </a:r>
                      <a:endParaRPr lang="zh-CN" altLang="en-US" sz="800" b="0" i="0">
                        <a:solidFill>
                          <a:srgbClr val="0F1115"/>
                        </a:solidFill>
                        <a:latin typeface="quote-cjk-patch"/>
                        <a:ea typeface="quote-cjk-patch"/>
                      </a:endParaRPr>
                    </a:p>
                  </a:txBody>
                  <a:tcPr marL="0"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ALOHA</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10분간의 시연/작업</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정밀한 조작이 가능하며, 하드웨어 비용이 저렴합니다.</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수집 비용이 높습니다.</a:t>
                      </a:r>
                      <a:endParaRPr lang="zh-CN" altLang="en-US" sz="800" b="0" i="0">
                        <a:solidFill>
                          <a:srgbClr val="0F1115"/>
                        </a:solidFill>
                        <a:latin typeface="quote-cjk-patch"/>
                        <a:ea typeface="quote-cjk-patch"/>
                      </a:endParaRPr>
                    </a:p>
                  </a:txBody>
                  <a:tcPr marL="122237" marR="0" marT="76517" marB="76517" anchor="ctr" anchorCtr="0">
                    <a:lnL>
                      <a:noFill/>
                    </a:lnL>
                    <a:lnR>
                      <a:noFill/>
                    </a:lnR>
                    <a:lnT>
                      <a:noFill/>
                    </a:lnT>
                    <a:lnB>
                      <a:noFill/>
                    </a:lnB>
                    <a:noFill/>
                  </a:tcPr>
                </a:tc>
              </a:tr>
              <a:tr h="0">
                <a:tc>
                  <a:txBody>
                    <a:bodyPr/>
                    <a:p>
                      <a:pPr>
                        <a:lnSpc>
                          <a:spcPts val="1500"/>
                        </a:lnSpc>
                      </a:pPr>
                      <a:r>
                        <a:rPr lang="zh-CN" altLang="en-US" sz="800" b="0" i="0">
                          <a:solidFill>
                            <a:srgbClr val="0F1115"/>
                          </a:solidFill>
                          <a:latin typeface="quote-cjk-patch"/>
                          <a:ea typeface="quote-cjk-patch"/>
                        </a:rPr>
                        <a:t>모방 학습</a:t>
                      </a:r>
                      <a:endParaRPr lang="zh-CN" altLang="en-US" sz="800" b="0" i="0">
                        <a:solidFill>
                          <a:srgbClr val="0F1115"/>
                        </a:solidFill>
                        <a:latin typeface="quote-cjk-patch"/>
                        <a:ea typeface="quote-cjk-patch"/>
                      </a:endParaRPr>
                    </a:p>
                  </a:txBody>
                  <a:tcPr marL="0"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UMI</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휴대용 데이터 수집 및 크로스플랫폼 배포</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야외 데이터 수집</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전용 인터페이스가 필요합니다.</a:t>
                      </a:r>
                      <a:endParaRPr lang="zh-CN" altLang="en-US" sz="800" b="0" i="0">
                        <a:solidFill>
                          <a:srgbClr val="0F1115"/>
                        </a:solidFill>
                        <a:latin typeface="quote-cjk-patch"/>
                        <a:ea typeface="quote-cjk-patch"/>
                      </a:endParaRPr>
                    </a:p>
                  </a:txBody>
                  <a:tcPr marL="122237" marR="0" marT="76517" marB="76517" anchor="ctr" anchorCtr="0">
                    <a:lnL>
                      <a:noFill/>
                    </a:lnL>
                    <a:lnR>
                      <a:noFill/>
                    </a:lnR>
                    <a:lnT>
                      <a:noFill/>
                    </a:lnT>
                    <a:lnB>
                      <a:noFill/>
                    </a:lnB>
                    <a:noFill/>
                  </a:tcPr>
                </a:tc>
              </a:tr>
              <a:tr h="0">
                <a:tc>
                  <a:txBody>
                    <a:bodyPr/>
                    <a:p>
                      <a:pPr>
                        <a:lnSpc>
                          <a:spcPts val="1500"/>
                        </a:lnSpc>
                      </a:pPr>
                      <a:r>
                        <a:rPr lang="zh-CN" altLang="en-US" sz="800" b="0" i="0">
                          <a:solidFill>
                            <a:srgbClr val="0F1115"/>
                          </a:solidFill>
                          <a:latin typeface="quote-cjk-patch"/>
                          <a:ea typeface="quote-cjk-patch"/>
                        </a:rPr>
                        <a:t>비디오 학습</a:t>
                      </a:r>
                      <a:endParaRPr lang="zh-CN" altLang="en-US" sz="800" b="0" i="0">
                        <a:solidFill>
                          <a:srgbClr val="0F1115"/>
                        </a:solidFill>
                        <a:latin typeface="quote-cjk-patch"/>
                        <a:ea typeface="quote-cjk-patch"/>
                      </a:endParaRPr>
                    </a:p>
                  </a:txBody>
                  <a:tcPr marL="0"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AutoRT</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77k 실제 장면</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대규모 실제 데이터</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라벨이 없으므로 자동으로 라벨링해야 합니다.</a:t>
                      </a:r>
                      <a:endParaRPr lang="zh-CN" altLang="en-US" sz="800" b="0" i="0">
                        <a:solidFill>
                          <a:srgbClr val="0F1115"/>
                        </a:solidFill>
                        <a:latin typeface="quote-cjk-patch"/>
                        <a:ea typeface="quote-cjk-patch"/>
                      </a:endParaRPr>
                    </a:p>
                  </a:txBody>
                  <a:tcPr marL="122237" marR="0" marT="76517" marB="76517" anchor="ctr" anchorCtr="0">
                    <a:lnL>
                      <a:noFill/>
                    </a:lnL>
                    <a:lnR>
                      <a:noFill/>
                    </a:lnR>
                    <a:lnT>
                      <a:noFill/>
                    </a:lnT>
                    <a:lnB>
                      <a:noFill/>
                    </a:lnB>
                    <a:noFill/>
                  </a:tcPr>
                </a:tc>
              </a:tr>
              <a:tr h="0">
                <a:tc>
                  <a:txBody>
                    <a:bodyPr/>
                    <a:p>
                      <a:pPr>
                        <a:lnSpc>
                          <a:spcPts val="1500"/>
                        </a:lnSpc>
                      </a:pPr>
                      <a:r>
                        <a:rPr lang="zh-CN" altLang="en-US" sz="800" b="0" i="0">
                          <a:solidFill>
                            <a:srgbClr val="0F1115"/>
                          </a:solidFill>
                          <a:latin typeface="quote-cjk-patch"/>
                          <a:ea typeface="quote-cjk-patch"/>
                        </a:rPr>
                        <a:t>비디오 학습</a:t>
                      </a:r>
                      <a:endParaRPr lang="zh-CN" altLang="en-US" sz="800" b="0" i="0">
                        <a:solidFill>
                          <a:srgbClr val="0F1115"/>
                        </a:solidFill>
                        <a:latin typeface="quote-cjk-patch"/>
                        <a:ea typeface="quote-cjk-patch"/>
                      </a:endParaRPr>
                    </a:p>
                  </a:txBody>
                  <a:tcPr marL="0"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VPT</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en-US" altLang="zh-CN" sz="800" b="0" i="0">
                          <a:solidFill>
                            <a:srgbClr val="0F1115"/>
                          </a:solidFill>
                          <a:latin typeface="quote-cjk-patch"/>
                          <a:ea typeface="quote-cjk-patch"/>
                        </a:rPr>
                        <a:t>7만 시간 분량의 태그가 없는 비디오</a:t>
                      </a:r>
                      <a:endParaRPr lang="en-US" altLang="zh-CN"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사전 훈련된 일반 전략</a:t>
                      </a:r>
                      <a:endParaRPr lang="zh-CN" altLang="en-US" sz="800" b="0" i="0">
                        <a:solidFill>
                          <a:srgbClr val="0F1115"/>
                        </a:solidFill>
                        <a:latin typeface="quote-cjk-patch"/>
                        <a:ea typeface="quote-cjk-patch"/>
                      </a:endParaRPr>
                    </a:p>
                  </a:txBody>
                  <a:tcPr marL="122237" marR="122237" marT="76517" marB="76517" anchor="ctr" anchorCtr="0">
                    <a:lnL>
                      <a:noFill/>
                    </a:lnL>
                    <a:lnR>
                      <a:noFill/>
                    </a:lnR>
                    <a:lnT>
                      <a:noFill/>
                    </a:lnT>
                    <a:lnB>
                      <a:noFill/>
                    </a:lnB>
                    <a:noFill/>
                  </a:tcPr>
                </a:tc>
                <a:tc>
                  <a:txBody>
                    <a:bodyPr/>
                    <a:p>
                      <a:pPr>
                        <a:lnSpc>
                          <a:spcPts val="1500"/>
                        </a:lnSpc>
                      </a:pPr>
                      <a:r>
                        <a:rPr lang="zh-CN" altLang="en-US" sz="800" b="0" i="0">
                          <a:solidFill>
                            <a:srgbClr val="0F1115"/>
                          </a:solidFill>
                          <a:latin typeface="quote-cjk-patch"/>
                          <a:ea typeface="quote-cjk-patch"/>
                        </a:rPr>
                        <a:t>역역학 모델의 정확도</a:t>
                      </a:r>
                      <a:endParaRPr lang="zh-CN" altLang="en-US" sz="800" b="0" i="0">
                        <a:solidFill>
                          <a:srgbClr val="0F1115"/>
                        </a:solidFill>
                        <a:latin typeface="quote-cjk-patch"/>
                        <a:ea typeface="quote-cjk-patch"/>
                      </a:endParaRPr>
                    </a:p>
                  </a:txBody>
                  <a:tcPr marL="122237" marR="0" marT="76517" marB="76517" anchor="ctr" anchorCtr="0">
                    <a:lnL>
                      <a:noFill/>
                    </a:lnL>
                    <a:lnR>
                      <a:noFill/>
                    </a:lnR>
                    <a:lnT>
                      <a:noFill/>
                    </a:lnT>
                    <a:lnB>
                      <a:noFill/>
                    </a:lnB>
                    <a:noFill/>
                  </a:tcPr>
                </a:tc>
              </a:tr>
            </a:tbl>
          </a:graphicData>
        </a:graphic>
      </p:graphicFrame>
      <p:sp>
        <p:nvSpPr>
          <p:cNvPr id="5" name="文本框 4"/>
          <p:cNvSpPr txBox="1"/>
          <p:nvPr/>
        </p:nvSpPr>
        <p:spPr>
          <a:xfrm>
            <a:off x="563880" y="279400"/>
            <a:ext cx="3619500" cy="860425"/>
          </a:xfrm>
          <a:prstGeom prst="rect">
            <a:avLst/>
          </a:prstGeom>
          <a:noFill/>
        </p:spPr>
        <p:txBody>
          <a:bodyPr wrap="square" rtlCol="0">
            <a:spAutoFit/>
          </a:bodyPr>
          <a:p>
            <a:r>
              <a:rPr lang="zh-CN" altLang="en-US" sz="1000"/>
              <a:t>왜 데이터가 중요한가?</a:t>
            </a:r>
            <a:endParaRPr lang="zh-CN" altLang="en-US" sz="1000"/>
          </a:p>
          <a:p>
            <a:r>
              <a:rPr lang="zh-CN" altLang="en-US" sz="1000"/>
              <a:t>체험형 지능 모델의 일반화 능력과 적응성은 훈련 데이터의 규모, 다양성, 그리고 진실성에 크게 의존합니다. 실제 세계에서 데이터를 확보하는 것은 어렵기 때문에 다양한 출처의 데이터를 활용해야 합니다.</a:t>
            </a:r>
            <a:endParaRPr lang="zh-CN" altLang="en-US" sz="1000"/>
          </a:p>
        </p:txBody>
      </p:sp>
      <p:sp>
        <p:nvSpPr>
          <p:cNvPr id="6" name="文本框 5"/>
          <p:cNvSpPr txBox="1"/>
          <p:nvPr/>
        </p:nvSpPr>
        <p:spPr>
          <a:xfrm>
            <a:off x="9033510" y="205105"/>
            <a:ext cx="3810000" cy="829945"/>
          </a:xfrm>
          <a:prstGeom prst="rect">
            <a:avLst/>
          </a:prstGeom>
          <a:noFill/>
        </p:spPr>
        <p:txBody>
          <a:bodyPr wrap="square" rtlCol="0">
            <a:spAutoFit/>
          </a:bodyPr>
          <a:p>
            <a:r>
              <a:rPr lang="zh-CN" altLang="en-US" sz="1200"/>
              <a:t>세 가지 주요 데이터 소스:</a:t>
            </a:r>
            <a:endParaRPr lang="en-US" altLang="zh-CN" sz="1200"/>
          </a:p>
          <a:p>
            <a:r>
              <a:rPr lang="zh-CN" altLang="en-US" sz="1200"/>
              <a:t>시뮬레이터(Simulators)</a:t>
            </a:r>
            <a:endParaRPr lang="zh-CN" altLang="en-US" sz="1200"/>
          </a:p>
          <a:p>
            <a:r>
              <a:rPr lang="zh-CN" altLang="en-US" sz="1200"/>
              <a:t>모방 학습(Imitation Learning)</a:t>
            </a:r>
            <a:endParaRPr lang="zh-CN" altLang="en-US" sz="1200"/>
          </a:p>
          <a:p>
            <a:r>
              <a:rPr lang="zh-CN" altLang="en-US" sz="1200"/>
              <a:t>비디오 학습</a:t>
            </a:r>
            <a:endParaRPr lang="zh-CN" altLang="en-US" sz="1200"/>
          </a:p>
        </p:txBody>
      </p:sp>
      <p:sp>
        <p:nvSpPr>
          <p:cNvPr id="7" name="文本框 6"/>
          <p:cNvSpPr txBox="1"/>
          <p:nvPr/>
        </p:nvSpPr>
        <p:spPr>
          <a:xfrm>
            <a:off x="5245735" y="813435"/>
            <a:ext cx="5674995" cy="2676525"/>
          </a:xfrm>
          <a:prstGeom prst="rect">
            <a:avLst/>
          </a:prstGeom>
          <a:noFill/>
        </p:spPr>
        <p:txBody>
          <a:bodyPr wrap="square" rtlCol="0">
            <a:spAutoFit/>
          </a:bodyPr>
          <a:p>
            <a:r>
              <a:rPr lang="zh-CN" altLang="en-US" sz="1200"/>
              <a:t>시뮬레이터: 안전하고 효율적인 가상 훈련장</a:t>
            </a:r>
            <a:endParaRPr lang="en-US" altLang="zh-CN" sz="1200"/>
          </a:p>
          <a:p>
            <a:r>
              <a:rPr lang="zh-CN" altLang="en-US" sz="1200"/>
              <a:t>원리: 가상 환경에서 대량의 상호작용 데이터를 생성하여 다중 인스턴스의 병렬 처리를 지원하고 데이터 수집 속도를 높입니다.</a:t>
            </a:r>
            <a:endParaRPr lang="en-US" altLang="zh-CN" sz="1200"/>
          </a:p>
          <a:p>
            <a:r>
              <a:rPr lang="zh-CN" altLang="en-US" sz="1200"/>
              <a:t>대표 플랫폼:</a:t>
            </a:r>
            <a:endParaRPr lang="zh-CN" altLang="en-US" sz="1200"/>
          </a:p>
          <a:p>
            <a:r>
              <a:rPr lang="en-US" altLang="zh-CN" sz="1200"/>
              <a:t>BEHAVIOR-1K: 1,000개의 일상 활동을 포함하며, 50개의 장면(집, 정원, 식당 등)에서 9,000개 이상의 객체를 사용합니다. 강체, 변형 가능한 객체, 액체 시뮬레이션을 지원합니다.</a:t>
            </a:r>
            <a:endParaRPr lang="en-US" altLang="zh-CN" sz="1200"/>
          </a:p>
          <a:p>
            <a:r>
              <a:rPr lang="en-US" altLang="zh-CN" sz="1200"/>
              <a:t>IsaacGym: GPU 기반의 고성능 물리 시뮬레이션으로, 강화 학습 전략의 빠른 반복을 지원합니다.</a:t>
            </a:r>
            <a:endParaRPr lang="en-US" altLang="zh-CN" sz="1200"/>
          </a:p>
          <a:p>
            <a:r>
              <a:rPr lang="en-US" altLang="zh-CN" sz="1200"/>
              <a:t>로보젠(RoboGen): 대규모 언어 모델을 활용하여 시뮬레이션 환경과 전문가의 시연 영상을 자동으로 생성함으로써 과제 수준의 일반화 능력을 향상시킵니다.</a:t>
            </a:r>
            <a:endParaRPr lang="en-US" altLang="zh-CN" sz="1200"/>
          </a:p>
          <a:p>
            <a:r>
              <a:rPr lang="zh-CN" altLang="en-US" sz="1200"/>
              <a:t>장점: 저비용, 무위험성, 반복 가능성, 극단적인 상황 생성 가능성.</a:t>
            </a:r>
            <a:endParaRPr lang="en-US" altLang="zh-CN" sz="1200"/>
          </a:p>
          <a:p>
            <a:r>
              <a:rPr lang="zh-CN" altLang="en-US" sz="1200"/>
              <a:t>도전 과제: Sim2Real(시뮬레이션에서 실제 환경으로의 전환) 간의 격차는 분야별 무작위화 기술을 통해 해소되어야 합니다.</a:t>
            </a:r>
            <a:endParaRPr lang="zh-CN" altLang="en-US" sz="1200"/>
          </a:p>
        </p:txBody>
      </p:sp>
      <p:sp>
        <p:nvSpPr>
          <p:cNvPr id="8" name="文本框 7"/>
          <p:cNvSpPr txBox="1"/>
          <p:nvPr/>
        </p:nvSpPr>
        <p:spPr>
          <a:xfrm>
            <a:off x="563880" y="1139825"/>
            <a:ext cx="4321175" cy="2399665"/>
          </a:xfrm>
          <a:prstGeom prst="rect">
            <a:avLst/>
          </a:prstGeom>
          <a:noFill/>
        </p:spPr>
        <p:txBody>
          <a:bodyPr wrap="square" rtlCol="0">
            <a:spAutoFit/>
          </a:bodyPr>
          <a:p>
            <a:r>
              <a:rPr lang="zh-CN" altLang="en-US" sz="1000"/>
              <a:t>모방 학습: 인간의 시연을 통해 미세한 기술을 배우기</a:t>
            </a:r>
            <a:endParaRPr lang="en-US" altLang="zh-CN" sz="1000"/>
          </a:p>
          <a:p>
            <a:r>
              <a:rPr lang="zh-CN" altLang="en-US" sz="1000"/>
              <a:t>원리: 원격 조작을 통해 인간 전문가의 시연 내용(관절 위치, 이미지, 힘감각 등)을 기록하고, 모델이 인간의 행동을 모방하도록 훈련시킵니다.</a:t>
            </a:r>
            <a:endParaRPr lang="en-US" altLang="zh-CN" sz="1000"/>
          </a:p>
          <a:p>
            <a:r>
              <a:rPr lang="zh-CN" altLang="en-US" sz="1000"/>
              <a:t>대표 업무:</a:t>
            </a:r>
            <a:endParaRPr lang="en-US" altLang="zh-CN" sz="1000"/>
          </a:p>
          <a:p>
            <a:r>
              <a:rPr lang="en-US" altLang="zh-CN" sz="1000"/>
              <a:t>ALOHA: 저비용의 원격 조작 플랫폼으로, 단 10분 만에 복잡한 작업(옷 접기, 병 뚜껑 열기 등)을 배울 수 있으며 성공률은 80~90%입니다.</a:t>
            </a:r>
            <a:endParaRPr lang="en-US" altLang="zh-CN" sz="1000"/>
          </a:p>
          <a:p>
            <a:r>
              <a:rPr lang="en-US" altLang="zh-CN" sz="1000"/>
              <a:t>UMI(유니버설 매니플레이션 인터페이스): 휴대용 클램프와 피시아이 렌즈를 결합하여 복잡한 조작 데이터를 수확할 수 있으며, 크로스플랫폼 배포가 가능합니다.</a:t>
            </a:r>
            <a:endParaRPr lang="en-US" altLang="zh-CN" sz="1000"/>
          </a:p>
          <a:p>
            <a:r>
              <a:rPr lang="en-US" altLang="zh-CN" sz="1000"/>
              <a:t>HumanPlus: 단안 RGB 카메라를 이용해 인체 움직임을 포착하고, 이를 인형 로봇으로 재위치하여 ‘그림자 추적’ 방식으로 데이터를 수집합니다.</a:t>
            </a:r>
            <a:endParaRPr lang="en-US" altLang="zh-CN" sz="1000"/>
          </a:p>
          <a:p>
            <a:r>
              <a:rPr lang="zh-CN" altLang="en-US" sz="1000"/>
              <a:t>장점: 인간의 효율적인 전략과 작업 기술을 포착할 수 있어 정밀한 작업에 적합합니다.</a:t>
            </a:r>
            <a:endParaRPr lang="en-US" altLang="zh-CN" sz="1000"/>
          </a:p>
          <a:p>
            <a:r>
              <a:rPr lang="zh-CN" altLang="en-US" sz="1000"/>
              <a:t>도전 과제: 높은 시연 비용으로 인해 모든 상황을 대상으로 하기 어렵습니다.</a:t>
            </a:r>
            <a:endParaRPr lang="zh-CN" altLang="en-US" sz="10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65280" y="204988"/>
            <a:ext cx="11661440" cy="6448024"/>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4732197" y="393227"/>
            <a:ext cx="2727607" cy="368300"/>
          </a:xfrm>
          <a:prstGeom prst="rect">
            <a:avLst/>
          </a:prstGeom>
          <a:noFill/>
        </p:spPr>
        <p:txBody>
          <a:bodyPr wrap="square" rtlCol="0">
            <a:spAutoFit/>
          </a:bodyPr>
          <a:lstStyle/>
          <a:p>
            <a:pPr algn="ctr"/>
            <a:r>
              <a:rPr lang="zh-CN" altLang="en-US" dirty="0">
                <a:solidFill>
                  <a:schemeClr val="tx1">
                    <a:lumMod val="75000"/>
                    <a:lumOff val="25000"/>
                  </a:schemeClr>
                </a:solidFill>
                <a:latin typeface="思源宋体 CN SemiBold" panose="02020600000000000000" pitchFamily="18" charset="-122"/>
                <a:ea typeface="思源宋体 CN SemiBold" panose="02020600000000000000" pitchFamily="18" charset="-122"/>
              </a:rPr>
              <a:t>요약 및 전망</a:t>
            </a:r>
            <a:endParaRPr lang="zh-CN" altLang="en-US" dirty="0">
              <a:solidFill>
                <a:schemeClr val="tx1">
                  <a:lumMod val="75000"/>
                  <a:lumOff val="25000"/>
                </a:schemeClr>
              </a:solidFill>
              <a:latin typeface="思源宋体 CN SemiBold" panose="02020600000000000000" pitchFamily="18" charset="-122"/>
              <a:ea typeface="思源宋体 CN SemiBold" panose="02020600000000000000" pitchFamily="18" charset="-122"/>
            </a:endParaRPr>
          </a:p>
        </p:txBody>
      </p:sp>
      <p:sp>
        <p:nvSpPr>
          <p:cNvPr id="2" name="文本框 1"/>
          <p:cNvSpPr txBox="1"/>
          <p:nvPr/>
        </p:nvSpPr>
        <p:spPr>
          <a:xfrm>
            <a:off x="773430" y="792480"/>
            <a:ext cx="10939780" cy="3323590"/>
          </a:xfrm>
          <a:prstGeom prst="rect">
            <a:avLst/>
          </a:prstGeom>
          <a:noFill/>
        </p:spPr>
        <p:txBody>
          <a:bodyPr wrap="square" rtlCol="0">
            <a:noAutofit/>
          </a:bodyPr>
          <a:p>
            <a:r>
              <a:rPr lang="zh-CN" altLang="en-US" sz="1200"/>
              <a:t>대형 모델은 인식 및 이해, 제어 수준, 시스템 아키텍처, 데이터 소스라는 네 가지 핵심 차원에서 몸체 지능의 모습을 근본적으로 변화시키고 있습니다.</a:t>
            </a:r>
            <a:endParaRPr lang="zh-CN" altLang="en-US" sz="1200"/>
          </a:p>
          <a:p>
            <a:r>
              <a:rPr lang="zh-CN" altLang="en-US" sz="1200"/>
              <a:t>지각 및 이해 측면에서, 다중 모달 대규모 모델 덕분에 로봇은 처음으로 자연어를 사용하여 실시간으로 3차원 공간 내에서 물체를 위치 파악할 수 있게 되었으며, 이는 실시간 상호작용의 기반이 되었습니다.</a:t>
            </a:r>
            <a:endParaRPr lang="en-US" altLang="zh-CN" sz="1200"/>
          </a:p>
          <a:p>
            <a:r>
              <a:rPr lang="zh-CN" altLang="en-US" sz="1200"/>
              <a:t>제어 계층 차원에서 계층적 아키텍처는 대형 모델이 적절한 추상화 수준에서 기능할 수 있도록 지원한다. 요구 수준의 SayCan에서부터 작업 수준의 CaP, 계획 수준의 VoxPoser, 그리고 동작 수준의 RT-2에 이르기까지 대형 모델은 각 계층에서 자신만의 위치를 확보하고 있다. 이 피라미드 구조는 대형 모델이 고차원 추론과 계획에 뛰어나며, 저차원 실시간 제어는 여전히 전통적인 방법과의 협력이 필요함을 명확히 보여준다. 두 요소의 장점이 상호 보완되며, 완전한 몸체 지능 시스템을 구성한다.</a:t>
            </a:r>
            <a:endParaRPr lang="en-US" altLang="zh-CN" sz="1200"/>
          </a:p>
          <a:p>
            <a:r>
              <a:rPr lang="zh-CN" altLang="en-US" sz="1200"/>
              <a:t>시스템 아키텍처 차원에서는 두 가지 기술 로드라인이 병행 발전하며 융합 방향으로 나아가고 있다. 엔드투엔드 트랜스포머 아키텍처는 시각, 언어, 동작을 통합적으로 모델링해 방대한 데이터에서 추론 능력을 자동으로 발휘할 수 있다. RT-2는 오픈 빔핑 과제에서 RT-1보다 평균 20% 이상 성능이 향상되었으며, 멸종한 동물을 집어들기와 같은 추상적인 명령도 이해할 수 있다. 반면, 빅 모델과 기초 모델을 결합한 고정형 아키텍처는 유연성과 해석 가능성을 중시하며, 제로 샘플로도 새로운 과제에 대응할 수 있고, 3D 가치 그래프를 통해 의사결정 과정을 한눈에 파악할 수 있다. 두 접근 방식은 서로 대립하는 것이 아니라, 미래의 추세는 융합이다. 즉, 엔드투엔드 모델을 기반으로 하여 실시간성을 보장하고, 빅 모델을 활용해 고차원적인 계획을 통해 일반화 능력을 확보하는 것이다.</a:t>
            </a:r>
            <a:endParaRPr lang="en-US" altLang="zh-CN" sz="1200"/>
          </a:p>
          <a:p>
            <a:r>
              <a:rPr lang="zh-CN" altLang="en-US" sz="1200"/>
              <a:t>데이터 출처 측면에서는 시뮬레이터, 모방 학습, 비디오 학습이라는 세 가지 출처가 통합된다.</a:t>
            </a:r>
            <a:r>
              <a:rPr lang="zh-CN" altLang="en-US" sz="1200"/>
              <a:t>시뮬레이터는 1000개 이상의 일상 활동과 9000개 이상의 물체를 활용한 안전 훈련 환경을 제공합니다. 모방 학습은 인간의 10분간의 시연만으로도 로봇이 정밀한 조작을 익힐 수 있으며, 성공률은 80~90%에 달합니다. 비디오 학습은 인터넷 동영상과 실제 로봇 데이터 수집을 통해 77k의 실제 장면을 확보해 일반화를 위한 데이터 기반을 마련했습니다. 세 가지 출처의 장점이 서로 보완되며, 실제 세계 데이터 부족이라는 문제를 함께 해결합니다.</a:t>
            </a:r>
            <a:endParaRPr lang="zh-CN" altLang="en-US" sz="1200"/>
          </a:p>
        </p:txBody>
      </p:sp>
      <p:sp>
        <p:nvSpPr>
          <p:cNvPr id="3" name="文本框 2"/>
          <p:cNvSpPr txBox="1"/>
          <p:nvPr/>
        </p:nvSpPr>
        <p:spPr>
          <a:xfrm>
            <a:off x="773430" y="4002405"/>
            <a:ext cx="3068320" cy="860425"/>
          </a:xfrm>
          <a:prstGeom prst="rect">
            <a:avLst/>
          </a:prstGeom>
          <a:noFill/>
        </p:spPr>
        <p:txBody>
          <a:bodyPr wrap="square" rtlCol="0">
            <a:spAutoFit/>
          </a:bodyPr>
          <a:p>
            <a:r>
              <a:rPr lang="zh-CN" altLang="en-US" sz="1000"/>
              <a:t>진전이 두드러지지만, 몸체 지능은 여전히 세 가지 핵심적인 과제에 직면해 있습니다.</a:t>
            </a:r>
            <a:endParaRPr lang="zh-CN" altLang="en-US" sz="1000"/>
          </a:p>
          <a:p>
            <a:r>
              <a:rPr lang="zh-CN" altLang="en-US" sz="1000"/>
              <a:t>첫째, 실제 데이터가 부족합니다.</a:t>
            </a:r>
            <a:endParaRPr lang="zh-CN" altLang="en-US" sz="1000"/>
          </a:p>
          <a:p>
            <a:r>
              <a:rPr lang="zh-CN" altLang="en-US" sz="1000"/>
              <a:t>둘째, 추론 속도가 느립니다.</a:t>
            </a:r>
            <a:endParaRPr lang="en-US" altLang="zh-CN" sz="1000"/>
          </a:p>
          <a:p>
            <a:r>
              <a:rPr lang="zh-CN" altLang="en-US" sz="1000"/>
              <a:t>셋째, 다중 지능체 간의 협력입니다.</a:t>
            </a:r>
            <a:endParaRPr lang="zh-CN" altLang="en-US" sz="1000"/>
          </a:p>
        </p:txBody>
      </p:sp>
      <p:sp>
        <p:nvSpPr>
          <p:cNvPr id="5" name="文本框 4"/>
          <p:cNvSpPr txBox="1"/>
          <p:nvPr/>
        </p:nvSpPr>
        <p:spPr>
          <a:xfrm>
            <a:off x="4513580" y="4002405"/>
            <a:ext cx="6988175" cy="772795"/>
          </a:xfrm>
          <a:prstGeom prst="rect">
            <a:avLst/>
          </a:prstGeom>
          <a:noFill/>
        </p:spPr>
        <p:txBody>
          <a:bodyPr wrap="square" rtlCol="0">
            <a:noAutofit/>
          </a:bodyPr>
          <a:p>
            <a:r>
              <a:rPr lang="zh-CN" altLang="en-US" sz="1400"/>
              <a:t>향후 발전 방향</a:t>
            </a:r>
            <a:endParaRPr lang="zh-CN" altLang="en-US" sz="1400"/>
          </a:p>
          <a:p>
            <a:r>
              <a:rPr lang="en-US" altLang="zh-CN" sz="1400"/>
              <a:t>1. 실시간성 향상. 2. 데이터 처리 효율성 증대. 3. 다중 지능체 협업. 4. 해석 가능성 및 보안성 확보.</a:t>
            </a:r>
            <a:endParaRPr lang="zh-CN" altLang="en-US" sz="1400"/>
          </a:p>
          <a:p>
            <a:r>
              <a:rPr lang="en-US" altLang="zh-CN" sz="1400"/>
              <a:t>5. 몸체화 기초 모델.</a:t>
            </a:r>
            <a:endParaRPr lang="zh-CN" altLang="en-US" sz="1400"/>
          </a:p>
          <a:p>
            <a:endParaRPr lang="zh-CN" altLang="en-US" sz="1400"/>
          </a:p>
          <a:p>
            <a:endParaRPr lang="zh-CN" altLang="en-US" sz="1400"/>
          </a:p>
        </p:txBody>
      </p:sp>
      <p:sp>
        <p:nvSpPr>
          <p:cNvPr id="6" name="文本框 5"/>
          <p:cNvSpPr txBox="1"/>
          <p:nvPr/>
        </p:nvSpPr>
        <p:spPr>
          <a:xfrm>
            <a:off x="773430" y="5004435"/>
            <a:ext cx="11008995" cy="1568450"/>
          </a:xfrm>
          <a:prstGeom prst="rect">
            <a:avLst/>
          </a:prstGeom>
          <a:noFill/>
        </p:spPr>
        <p:txBody>
          <a:bodyPr wrap="square" rtlCol="0">
            <a:spAutoFit/>
          </a:bodyPr>
          <a:p>
            <a:r>
              <a:rPr lang="zh-CN" altLang="en-US" sz="1200"/>
              <a:t>더 거시적인 관점에서 볼 때, 몸체 지능(embodied intelligence)은 “감지-계획-실행”이라는 선형적 프로세스에서 “이해-모델링-행동”이라는 폐쇄형 시스템으로의 패러다임 전환을 경험하고 있습니다.</a:t>
            </a:r>
            <a:endParaRPr lang="en-US" altLang="zh-CN" sz="1200"/>
          </a:p>
          <a:p>
            <a:r>
              <a:rPr lang="zh-CN" altLang="en-US" sz="1200"/>
              <a:t>전통적인 패러다임에서는 로봇이 먼저 환경을 인식한 후 경로를 계획하고, 마지막으로 동작을 실행한다. 이는 개방 루프 방식으로, 환경이 변화하면 로봇은 대응할 수 없다. 반면 폐쇄 루프 패러다임에서는 로봇이 행동을 통해 환경을 변화시키고, 인식을 통해 피드백을 얻으며, 이해를 바탕으로 인식을 업데이트하고, 모델링을 통해 미래를 예측한 후 다음 라운드의 행동을 계획한다. 이러한 과정이 끊임없이 반복되며 지속적으로 진화한다.</a:t>
            </a:r>
            <a:endParaRPr lang="en-US" altLang="zh-CN" sz="1200"/>
          </a:p>
          <a:p>
            <a:r>
              <a:rPr lang="zh-CN" altLang="en-US" sz="1200"/>
              <a:t>이는 로봇이 더 이상 사전에 설정된 프로그램을 실행하는 도구가 아니라, 환경과 인간과 지속적으로 상호작용하며 피드백을 통해 학습하고 역동적인 세계에 적응하는 지능체가 되었다는 것을 의미합니다. 로봇은 사용자의 의도를 이해하고, 사용자의 요구를 예측하며, 사용자의 습관에 맞춰 적응할 수 있어, 냉정한 기계가 아닌 사용자의 삶 속에서 협력자가 될 수 있습니다.</a:t>
            </a:r>
            <a:endParaRPr lang="zh-CN" altLang="en-US" sz="12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矩形 13"/>
          <p:cNvSpPr/>
          <p:nvPr/>
        </p:nvSpPr>
        <p:spPr>
          <a:xfrm>
            <a:off x="2298700" y="1485900"/>
            <a:ext cx="7594600" cy="3886200"/>
          </a:xfrm>
          <a:prstGeom prst="rect">
            <a:avLst/>
          </a:prstGeom>
          <a:solidFill>
            <a:srgbClr val="FFFFFF"/>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374566" y="2870839"/>
            <a:ext cx="7442868" cy="829945"/>
          </a:xfrm>
          <a:prstGeom prst="rect">
            <a:avLst/>
          </a:prstGeom>
          <a:noFill/>
        </p:spPr>
        <p:txBody>
          <a:bodyPr wrap="square" rtlCol="0">
            <a:spAutoFit/>
          </a:bodyPr>
          <a:lstStyle/>
          <a:p>
            <a:pPr algn="ctr"/>
            <a:r>
              <a:rPr lang="zh-CN" altLang="en-US" sz="4800" dirty="0" smtClean="0">
                <a:solidFill>
                  <a:srgbClr val="56627A"/>
                </a:solidFill>
                <a:latin typeface="思源宋体 CN SemiBold" panose="02020600000000000000" pitchFamily="18" charset="-122"/>
                <a:ea typeface="思源宋体 CN SemiBold" panose="02020600000000000000" pitchFamily="18" charset="-122"/>
              </a:rPr>
              <a:t>시청해 주셔서 감사합니다.</a:t>
            </a:r>
            <a:endParaRPr lang="zh-CN" altLang="en-US" sz="4800" dirty="0">
              <a:solidFill>
                <a:schemeClr val="tx1">
                  <a:lumMod val="65000"/>
                  <a:lumOff val="35000"/>
                </a:schemeClr>
              </a:solidFill>
              <a:latin typeface="思源宋体 CN SemiBold" panose="02020600000000000000" pitchFamily="18" charset="-122"/>
              <a:ea typeface="思源宋体 CN SemiBold" panose="02020600000000000000" pitchFamily="18" charset="-122"/>
            </a:endParaRPr>
          </a:p>
        </p:txBody>
      </p:sp>
      <p:sp>
        <p:nvSpPr>
          <p:cNvPr id="2" name="任意多边形 1"/>
          <p:cNvSpPr/>
          <p:nvPr/>
        </p:nvSpPr>
        <p:spPr>
          <a:xfrm rot="20907953">
            <a:off x="-1178836" y="-261634"/>
            <a:ext cx="4420071" cy="4710998"/>
          </a:xfrm>
          <a:custGeom>
            <a:avLst/>
            <a:gdLst>
              <a:gd name="connsiteX0" fmla="*/ 21326 w 4420071"/>
              <a:gd name="connsiteY0" fmla="*/ 4697128 h 4710998"/>
              <a:gd name="connsiteX1" fmla="*/ 146455 w 4420071"/>
              <a:gd name="connsiteY1" fmla="*/ 4677877 h 4710998"/>
              <a:gd name="connsiteX2" fmla="*/ 1118606 w 4420071"/>
              <a:gd name="connsiteY2" fmla="*/ 4408370 h 4710998"/>
              <a:gd name="connsiteX3" fmla="*/ 1484366 w 4420071"/>
              <a:gd name="connsiteY3" fmla="*/ 3070458 h 4710998"/>
              <a:gd name="connsiteX4" fmla="*/ 2042631 w 4420071"/>
              <a:gd name="connsiteY4" fmla="*/ 2271562 h 4710998"/>
              <a:gd name="connsiteX5" fmla="*/ 2138884 w 4420071"/>
              <a:gd name="connsiteY5" fmla="*/ 1280160 h 4710998"/>
              <a:gd name="connsiteX6" fmla="*/ 3014783 w 4420071"/>
              <a:gd name="connsiteY6" fmla="*/ 616016 h 4710998"/>
              <a:gd name="connsiteX7" fmla="*/ 3958059 w 4420071"/>
              <a:gd name="connsiteY7" fmla="*/ 558265 h 4710998"/>
              <a:gd name="connsiteX8" fmla="*/ 4420071 w 4420071"/>
              <a:gd name="connsiteY8" fmla="*/ 0 h 471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0071" h="4710998">
                <a:moveTo>
                  <a:pt x="21326" y="4697128"/>
                </a:moveTo>
                <a:cubicBezTo>
                  <a:pt x="-7550" y="4711565"/>
                  <a:pt x="-36425" y="4726003"/>
                  <a:pt x="146455" y="4677877"/>
                </a:cubicBezTo>
                <a:cubicBezTo>
                  <a:pt x="329335" y="4629751"/>
                  <a:pt x="895621" y="4676273"/>
                  <a:pt x="1118606" y="4408370"/>
                </a:cubicBezTo>
                <a:cubicBezTo>
                  <a:pt x="1341591" y="4140467"/>
                  <a:pt x="1330362" y="3426593"/>
                  <a:pt x="1484366" y="3070458"/>
                </a:cubicBezTo>
                <a:cubicBezTo>
                  <a:pt x="1638370" y="2714323"/>
                  <a:pt x="1933545" y="2569945"/>
                  <a:pt x="2042631" y="2271562"/>
                </a:cubicBezTo>
                <a:cubicBezTo>
                  <a:pt x="2151717" y="1973179"/>
                  <a:pt x="1976859" y="1556084"/>
                  <a:pt x="2138884" y="1280160"/>
                </a:cubicBezTo>
                <a:cubicBezTo>
                  <a:pt x="2300909" y="1004236"/>
                  <a:pt x="2711587" y="736332"/>
                  <a:pt x="3014783" y="616016"/>
                </a:cubicBezTo>
                <a:cubicBezTo>
                  <a:pt x="3317979" y="495700"/>
                  <a:pt x="3723844" y="660934"/>
                  <a:pt x="3958059" y="558265"/>
                </a:cubicBezTo>
                <a:cubicBezTo>
                  <a:pt x="4192274" y="455596"/>
                  <a:pt x="4306172" y="227798"/>
                  <a:pt x="4420071" y="0"/>
                </a:cubicBezTo>
              </a:path>
            </a:pathLst>
          </a:custGeom>
          <a:noFill/>
          <a:ln w="19050">
            <a:solidFill>
              <a:srgbClr val="4F64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9916399" y="3701889"/>
            <a:ext cx="2282276" cy="3423522"/>
          </a:xfrm>
          <a:custGeom>
            <a:avLst/>
            <a:gdLst>
              <a:gd name="connsiteX0" fmla="*/ 21326 w 4420071"/>
              <a:gd name="connsiteY0" fmla="*/ 4697128 h 4710998"/>
              <a:gd name="connsiteX1" fmla="*/ 146455 w 4420071"/>
              <a:gd name="connsiteY1" fmla="*/ 4677877 h 4710998"/>
              <a:gd name="connsiteX2" fmla="*/ 1118606 w 4420071"/>
              <a:gd name="connsiteY2" fmla="*/ 4408370 h 4710998"/>
              <a:gd name="connsiteX3" fmla="*/ 1484366 w 4420071"/>
              <a:gd name="connsiteY3" fmla="*/ 3070458 h 4710998"/>
              <a:gd name="connsiteX4" fmla="*/ 2042631 w 4420071"/>
              <a:gd name="connsiteY4" fmla="*/ 2271562 h 4710998"/>
              <a:gd name="connsiteX5" fmla="*/ 2138884 w 4420071"/>
              <a:gd name="connsiteY5" fmla="*/ 1280160 h 4710998"/>
              <a:gd name="connsiteX6" fmla="*/ 3014783 w 4420071"/>
              <a:gd name="connsiteY6" fmla="*/ 616016 h 4710998"/>
              <a:gd name="connsiteX7" fmla="*/ 3958059 w 4420071"/>
              <a:gd name="connsiteY7" fmla="*/ 558265 h 4710998"/>
              <a:gd name="connsiteX8" fmla="*/ 4420071 w 4420071"/>
              <a:gd name="connsiteY8" fmla="*/ 0 h 471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0071" h="4710998">
                <a:moveTo>
                  <a:pt x="21326" y="4697128"/>
                </a:moveTo>
                <a:cubicBezTo>
                  <a:pt x="-7550" y="4711565"/>
                  <a:pt x="-36425" y="4726003"/>
                  <a:pt x="146455" y="4677877"/>
                </a:cubicBezTo>
                <a:cubicBezTo>
                  <a:pt x="329335" y="4629751"/>
                  <a:pt x="895621" y="4676273"/>
                  <a:pt x="1118606" y="4408370"/>
                </a:cubicBezTo>
                <a:cubicBezTo>
                  <a:pt x="1341591" y="4140467"/>
                  <a:pt x="1330362" y="3426593"/>
                  <a:pt x="1484366" y="3070458"/>
                </a:cubicBezTo>
                <a:cubicBezTo>
                  <a:pt x="1638370" y="2714323"/>
                  <a:pt x="1933545" y="2569945"/>
                  <a:pt x="2042631" y="2271562"/>
                </a:cubicBezTo>
                <a:cubicBezTo>
                  <a:pt x="2151717" y="1973179"/>
                  <a:pt x="1976859" y="1556084"/>
                  <a:pt x="2138884" y="1280160"/>
                </a:cubicBezTo>
                <a:cubicBezTo>
                  <a:pt x="2300909" y="1004236"/>
                  <a:pt x="2711587" y="736332"/>
                  <a:pt x="3014783" y="616016"/>
                </a:cubicBezTo>
                <a:cubicBezTo>
                  <a:pt x="3317979" y="495700"/>
                  <a:pt x="3723844" y="660934"/>
                  <a:pt x="3958059" y="558265"/>
                </a:cubicBezTo>
                <a:cubicBezTo>
                  <a:pt x="4192274" y="455596"/>
                  <a:pt x="4306172" y="227798"/>
                  <a:pt x="4420071" y="0"/>
                </a:cubicBezTo>
              </a:path>
            </a:pathLst>
          </a:custGeom>
          <a:noFill/>
          <a:ln w="19050">
            <a:solidFill>
              <a:srgbClr val="DEC6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2.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3.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4.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5.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6.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7.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8.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9.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10.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11.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12.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ags/tag13.xml><?xml version="1.0" encoding="utf-8"?>
<p:tagLst xmlns:p="http://schemas.openxmlformats.org/presentationml/2006/main">
  <p:tag name="KSO_WM_DIAGRAM_VIRTUALLY_FRAME" val="{&quot;height&quot;:314.5262992125984,&quot;left&quot;:120.23787401574802,&quot;top&quot;:122.14748031496063,&quot;width&quot;:719.524251968503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6426</Words>
  <Application>WPS 演示</Application>
  <PresentationFormat>宽屏</PresentationFormat>
  <Paragraphs>216</Paragraphs>
  <Slides>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vt:i4>
      </vt:variant>
    </vt:vector>
  </HeadingPairs>
  <TitlesOfParts>
    <vt:vector size="25" baseType="lpstr">
      <vt:lpstr>Arial</vt:lpstr>
      <vt:lpstr>SimSun</vt:lpstr>
      <vt:lpstr>Wingdings</vt:lpstr>
      <vt:lpstr>思源宋体 CN SemiBold</vt:lpstr>
      <vt:lpstr>造字工房悦黑（非商用）常规体</vt:lpstr>
      <vt:lpstr>汉仪全唐诗简</vt:lpstr>
      <vt:lpstr>quote-cjk-patch</vt:lpstr>
      <vt:lpstr>DengXian</vt:lpstr>
      <vt:lpstr>바탕체</vt:lpstr>
      <vt:lpstr>SimHei</vt:lpstr>
      <vt:lpstr>Microsoft YaHei</vt:lpstr>
      <vt:lpstr>Arial Unicode MS</vt:lpstr>
      <vt:lpstr>DengXian Light</vt:lpstr>
      <vt:lpstr>Calibri</vt:lpstr>
      <vt:lpstr>맑은 고딕</vt:lpstr>
      <vt:lpstr>한컴 고딕</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胥清</dc:creator>
  <cp:lastModifiedBy>三吋时光</cp:lastModifiedBy>
  <cp:revision>50</cp:revision>
  <dcterms:created xsi:type="dcterms:W3CDTF">2021-07-06T12:15:00Z</dcterms:created>
  <dcterms:modified xsi:type="dcterms:W3CDTF">2026-04-02T05:16:19Z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KSOTemplateUUID">
    <vt:lpwstr>v1.0_mb_wVp/0sLADN2eqK6gS6wujQ==</vt:lpwstr>
  </property>
  <property fmtid="{D5CDD505-2E9C-101B-9397-08002B2CF9AE}" pid="4" name="ICV">
    <vt:lpwstr>045653B82A014926B999B4A369202240_13</vt:lpwstr>
  </property>
</Properties>
</file>